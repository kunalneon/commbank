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2.xml" ContentType="application/vnd.openxmlformats-officedocument.drawingml.chartshape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3.xml" ContentType="application/vnd.openxmlformats-officedocument.drawingml.chartshape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rawings/drawing4.xml" ContentType="application/vnd.openxmlformats-officedocument.drawingml.chartshapes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rawings/drawing5.xml" ContentType="application/vnd.openxmlformats-officedocument.drawingml.chartshape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57" r:id="rId3"/>
    <p:sldId id="258" r:id="rId4"/>
    <p:sldId id="259" r:id="rId5"/>
    <p:sldId id="265" r:id="rId6"/>
    <p:sldId id="261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FEF"/>
    <a:srgbClr val="DCDCDC"/>
    <a:srgbClr val="F6E838"/>
    <a:srgbClr val="FAF28A"/>
    <a:srgbClr val="FCF7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52EC02-02E4-40B6-B280-8A29F376FFE5}" v="561" dt="2026-02-11T09:05:27.9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14" autoAdjust="0"/>
    <p:restoredTop sz="94769"/>
  </p:normalViewPr>
  <p:slideViewPr>
    <p:cSldViewPr snapToGrid="0">
      <p:cViewPr varScale="1">
        <p:scale>
          <a:sx n="74" d="100"/>
          <a:sy n="74" d="100"/>
        </p:scale>
        <p:origin x="78" y="3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nal neon" userId="0aa224205bbcf34d" providerId="LiveId" clId="{5D9D8649-EE82-410D-A67C-D006B0DF2D4E}"/>
    <pc:docChg chg="undo custSel addSld delSld modSld">
      <pc:chgData name="kunal neon" userId="0aa224205bbcf34d" providerId="LiveId" clId="{5D9D8649-EE82-410D-A67C-D006B0DF2D4E}" dt="2026-02-11T09:09:08.710" v="712" actId="207"/>
      <pc:docMkLst>
        <pc:docMk/>
      </pc:docMkLst>
      <pc:sldChg chg="modSp">
        <pc:chgData name="kunal neon" userId="0aa224205bbcf34d" providerId="LiveId" clId="{5D9D8649-EE82-410D-A67C-D006B0DF2D4E}" dt="2026-02-11T07:47:38.238" v="232"/>
        <pc:sldMkLst>
          <pc:docMk/>
          <pc:sldMk cId="1190977226" sldId="257"/>
        </pc:sldMkLst>
        <pc:graphicFrameChg chg="mod">
          <ac:chgData name="kunal neon" userId="0aa224205bbcf34d" providerId="LiveId" clId="{5D9D8649-EE82-410D-A67C-D006B0DF2D4E}" dt="2026-02-11T07:47:38.238" v="232"/>
          <ac:graphicFrameMkLst>
            <pc:docMk/>
            <pc:sldMk cId="1190977226" sldId="257"/>
            <ac:graphicFrameMk id="2" creationId="{EA9BC235-288F-4E0E-80B9-D499F3DAA8AB}"/>
          </ac:graphicFrameMkLst>
        </pc:graphicFrameChg>
      </pc:sldChg>
      <pc:sldChg chg="modSp">
        <pc:chgData name="kunal neon" userId="0aa224205bbcf34d" providerId="LiveId" clId="{5D9D8649-EE82-410D-A67C-D006B0DF2D4E}" dt="2026-02-11T07:52:33.638" v="406"/>
        <pc:sldMkLst>
          <pc:docMk/>
          <pc:sldMk cId="3164805938" sldId="258"/>
        </pc:sldMkLst>
        <pc:graphicFrameChg chg="mod">
          <ac:chgData name="kunal neon" userId="0aa224205bbcf34d" providerId="LiveId" clId="{5D9D8649-EE82-410D-A67C-D006B0DF2D4E}" dt="2026-02-11T07:52:33.638" v="406"/>
          <ac:graphicFrameMkLst>
            <pc:docMk/>
            <pc:sldMk cId="3164805938" sldId="258"/>
            <ac:graphicFrameMk id="2" creationId="{C680DEDC-3EDC-4915-B923-EBFC38547C55}"/>
          </ac:graphicFrameMkLst>
        </pc:graphicFrameChg>
      </pc:sldChg>
      <pc:sldChg chg="modSp">
        <pc:chgData name="kunal neon" userId="0aa224205bbcf34d" providerId="LiveId" clId="{5D9D8649-EE82-410D-A67C-D006B0DF2D4E}" dt="2026-02-11T07:52:14.521" v="396"/>
        <pc:sldMkLst>
          <pc:docMk/>
          <pc:sldMk cId="3292109805" sldId="259"/>
        </pc:sldMkLst>
        <pc:graphicFrameChg chg="mod">
          <ac:chgData name="kunal neon" userId="0aa224205bbcf34d" providerId="LiveId" clId="{5D9D8649-EE82-410D-A67C-D006B0DF2D4E}" dt="2026-02-11T07:52:14.521" v="396"/>
          <ac:graphicFrameMkLst>
            <pc:docMk/>
            <pc:sldMk cId="3292109805" sldId="259"/>
            <ac:graphicFrameMk id="2" creationId="{A96BB830-631A-4159-A407-0D53D5442C3D}"/>
          </ac:graphicFrameMkLst>
        </pc:graphicFrameChg>
      </pc:sldChg>
      <pc:sldChg chg="modSp del">
        <pc:chgData name="kunal neon" userId="0aa224205bbcf34d" providerId="LiveId" clId="{5D9D8649-EE82-410D-A67C-D006B0DF2D4E}" dt="2026-02-11T08:10:55.626" v="538" actId="2696"/>
        <pc:sldMkLst>
          <pc:docMk/>
          <pc:sldMk cId="1819736213" sldId="260"/>
        </pc:sldMkLst>
        <pc:graphicFrameChg chg="mod">
          <ac:chgData name="kunal neon" userId="0aa224205bbcf34d" providerId="LiveId" clId="{5D9D8649-EE82-410D-A67C-D006B0DF2D4E}" dt="2026-02-11T07:58:24.717" v="511"/>
          <ac:graphicFrameMkLst>
            <pc:docMk/>
            <pc:sldMk cId="1819736213" sldId="260"/>
            <ac:graphicFrameMk id="2" creationId="{9D215B1B-4B91-484A-BD22-AEA3007343ED}"/>
          </ac:graphicFrameMkLst>
        </pc:graphicFrameChg>
      </pc:sldChg>
      <pc:sldChg chg="modSp">
        <pc:chgData name="kunal neon" userId="0aa224205bbcf34d" providerId="LiveId" clId="{5D9D8649-EE82-410D-A67C-D006B0DF2D4E}" dt="2026-02-11T07:54:06.640" v="426"/>
        <pc:sldMkLst>
          <pc:docMk/>
          <pc:sldMk cId="186660988" sldId="261"/>
        </pc:sldMkLst>
        <pc:graphicFrameChg chg="mod">
          <ac:chgData name="kunal neon" userId="0aa224205bbcf34d" providerId="LiveId" clId="{5D9D8649-EE82-410D-A67C-D006B0DF2D4E}" dt="2026-02-11T07:54:06.640" v="426"/>
          <ac:graphicFrameMkLst>
            <pc:docMk/>
            <pc:sldMk cId="186660988" sldId="261"/>
            <ac:graphicFrameMk id="2" creationId="{6096D14F-E485-4333-9C84-4A38996422DA}"/>
          </ac:graphicFrameMkLst>
        </pc:graphicFrameChg>
      </pc:sldChg>
      <pc:sldChg chg="modSp mod">
        <pc:chgData name="kunal neon" userId="0aa224205bbcf34d" providerId="LiveId" clId="{5D9D8649-EE82-410D-A67C-D006B0DF2D4E}" dt="2026-02-11T08:37:49.518" v="621" actId="27918"/>
        <pc:sldMkLst>
          <pc:docMk/>
          <pc:sldMk cId="624444811" sldId="263"/>
        </pc:sldMkLst>
        <pc:graphicFrameChg chg="mod">
          <ac:chgData name="kunal neon" userId="0aa224205bbcf34d" providerId="LiveId" clId="{5D9D8649-EE82-410D-A67C-D006B0DF2D4E}" dt="2026-02-11T07:53:06.304" v="416"/>
          <ac:graphicFrameMkLst>
            <pc:docMk/>
            <pc:sldMk cId="624444811" sldId="263"/>
            <ac:graphicFrameMk id="2" creationId="{00000000-0008-0000-0300-000002000000}"/>
          </ac:graphicFrameMkLst>
        </pc:graphicFrameChg>
      </pc:sldChg>
      <pc:sldChg chg="addSp delSp modSp new mod modClrScheme chgLayout">
        <pc:chgData name="kunal neon" userId="0aa224205bbcf34d" providerId="LiveId" clId="{5D9D8649-EE82-410D-A67C-D006B0DF2D4E}" dt="2026-02-11T09:09:08.710" v="712" actId="207"/>
        <pc:sldMkLst>
          <pc:docMk/>
          <pc:sldMk cId="2866996928" sldId="264"/>
        </pc:sldMkLst>
        <pc:spChg chg="add del mod">
          <ac:chgData name="kunal neon" userId="0aa224205bbcf34d" providerId="LiveId" clId="{5D9D8649-EE82-410D-A67C-D006B0DF2D4E}" dt="2026-02-11T08:05:32.221" v="514" actId="478"/>
          <ac:spMkLst>
            <pc:docMk/>
            <pc:sldMk cId="2866996928" sldId="264"/>
            <ac:spMk id="2" creationId="{0910E4D6-5EA4-5F1B-EC42-7C6C784ED541}"/>
          </ac:spMkLst>
        </pc:spChg>
        <pc:spChg chg="add del mod">
          <ac:chgData name="kunal neon" userId="0aa224205bbcf34d" providerId="LiveId" clId="{5D9D8649-EE82-410D-A67C-D006B0DF2D4E}" dt="2026-02-11T08:06:00.351" v="518" actId="478"/>
          <ac:spMkLst>
            <pc:docMk/>
            <pc:sldMk cId="2866996928" sldId="264"/>
            <ac:spMk id="3" creationId="{F58A8318-851B-CEAE-C109-6215669CCF83}"/>
          </ac:spMkLst>
        </pc:spChg>
        <pc:spChg chg="add del mod">
          <ac:chgData name="kunal neon" userId="0aa224205bbcf34d" providerId="LiveId" clId="{5D9D8649-EE82-410D-A67C-D006B0DF2D4E}" dt="2026-02-11T08:16:41.828" v="552"/>
          <ac:spMkLst>
            <pc:docMk/>
            <pc:sldMk cId="2866996928" sldId="264"/>
            <ac:spMk id="4" creationId="{55D13E66-C467-0D0A-A34C-98EE3F83823C}"/>
          </ac:spMkLst>
        </pc:spChg>
        <pc:graphicFrameChg chg="add mod modGraphic">
          <ac:chgData name="kunal neon" userId="0aa224205bbcf34d" providerId="LiveId" clId="{5D9D8649-EE82-410D-A67C-D006B0DF2D4E}" dt="2026-02-11T09:09:08.710" v="712" actId="207"/>
          <ac:graphicFrameMkLst>
            <pc:docMk/>
            <pc:sldMk cId="2866996928" sldId="264"/>
            <ac:graphicFrameMk id="5" creationId="{7A1B8CBE-FE56-35EE-9239-13D3FBB4AC51}"/>
          </ac:graphicFrameMkLst>
        </pc:graphicFrameChg>
      </pc:sldChg>
      <pc:sldChg chg="add">
        <pc:chgData name="kunal neon" userId="0aa224205bbcf34d" providerId="LiveId" clId="{5D9D8649-EE82-410D-A67C-D006B0DF2D4E}" dt="2026-02-11T08:10:24.255" v="537"/>
        <pc:sldMkLst>
          <pc:docMk/>
          <pc:sldMk cId="1807482455" sldId="265"/>
        </pc:sldMkLst>
      </pc:sldChg>
      <pc:sldChg chg="add del">
        <pc:chgData name="kunal neon" userId="0aa224205bbcf34d" providerId="LiveId" clId="{5D9D8649-EE82-410D-A67C-D006B0DF2D4E}" dt="2026-02-11T08:05:41.805" v="516"/>
        <pc:sldMkLst>
          <pc:docMk/>
          <pc:sldMk cId="4221955774" sldId="265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aa224205bbcf34d/Documents/homeLoanData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aa224205bbcf34d/Documents/homeLoanData.xlsx" TargetMode="Externa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aa224205bbcf34d/Documents/homeLoanData.xlsx" TargetMode="Externa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aa224205bbcf34d/Documents/homeLoanData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aa224205bbcf34d/Documents/homeLoanData.xlsx" TargetMode="Externa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chartUserShapes" Target="../drawings/drawing4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aa224205bbcf34d/Documents/homeLoanData.xlsx" TargetMode="Externa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chartUserShapes" Target="../drawings/drawing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accent3">
                    <a:lumMod val="50000"/>
                    <a:alpha val="64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AU" sz="1400" b="1" i="0" u="none" strike="noStrike" baseline="0" dirty="0">
                <a:solidFill>
                  <a:schemeClr val="accent3">
                    <a:lumMod val="50000"/>
                    <a:alpha val="75000"/>
                  </a:schemeClr>
                </a:solidFill>
              </a:rPr>
              <a:t>Customer Base Skews Toward High DTI Levels</a:t>
            </a:r>
            <a:endParaRPr lang="en-US" b="1" dirty="0">
              <a:solidFill>
                <a:schemeClr val="accent3">
                  <a:lumMod val="50000"/>
                  <a:alpha val="75000"/>
                </a:schemeClr>
              </a:solidFill>
            </a:endParaRPr>
          </a:p>
        </c:rich>
      </c:tx>
      <c:layout>
        <c:manualLayout>
          <c:xMode val="edge"/>
          <c:yMode val="edge"/>
          <c:x val="2.5662973943478128E-2"/>
          <c:y val="3.680859426175815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accent3">
                  <a:lumMod val="50000"/>
                  <a:alpha val="64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32639107815688"/>
          <c:y val="0.18238172626309462"/>
          <c:w val="0.8416026452485923"/>
          <c:h val="0.6870650384311118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Sheet3!$G$20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rgbClr val="000000">
                  <a:alpha val="0"/>
                </a:srgb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D3512">
                  <a:alpha val="84706"/>
                </a:srgbClr>
              </a:solidFill>
              <a:ln>
                <a:solidFill>
                  <a:srgbClr val="000000">
                    <a:alpha val="0"/>
                  </a:srgb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083-4A41-9C80-91BDD2FA9323}"/>
              </c:ext>
            </c:extLst>
          </c:dPt>
          <c:dPt>
            <c:idx val="1"/>
            <c:invertIfNegative val="0"/>
            <c:bubble3D val="0"/>
            <c:spPr>
              <a:solidFill>
                <a:srgbClr val="0D3512">
                  <a:alpha val="62745"/>
                </a:srgbClr>
              </a:solidFill>
              <a:ln>
                <a:solidFill>
                  <a:srgbClr val="000000">
                    <a:alpha val="0"/>
                  </a:srgb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083-4A41-9C80-91BDD2FA9323}"/>
              </c:ext>
            </c:extLst>
          </c:dPt>
          <c:dPt>
            <c:idx val="2"/>
            <c:invertIfNegative val="0"/>
            <c:bubble3D val="0"/>
            <c:spPr>
              <a:solidFill>
                <a:srgbClr val="0D3512">
                  <a:alpha val="30980"/>
                </a:srgbClr>
              </a:solidFill>
              <a:ln>
                <a:solidFill>
                  <a:srgbClr val="000000">
                    <a:alpha val="0"/>
                  </a:srgb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083-4A41-9C80-91BDD2FA9323}"/>
              </c:ext>
            </c:extLst>
          </c:dPt>
          <c:dPt>
            <c:idx val="3"/>
            <c:invertIfNegative val="0"/>
            <c:bubble3D val="0"/>
            <c:spPr>
              <a:solidFill>
                <a:srgbClr val="0D3512">
                  <a:alpha val="13725"/>
                </a:srgbClr>
              </a:solidFill>
              <a:ln>
                <a:solidFill>
                  <a:srgbClr val="000000">
                    <a:alpha val="0"/>
                  </a:srgb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083-4A41-9C80-91BDD2FA9323}"/>
              </c:ext>
            </c:extLst>
          </c:dPt>
          <c:dLbls>
            <c:dLbl>
              <c:idx val="2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900" b="1" i="0" u="none" strike="noStrike" kern="1200" baseline="0">
                        <a:solidFill>
                          <a:schemeClr val="accent3">
                            <a:lumMod val="50000"/>
                            <a:alpha val="33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BB6D065C-779D-47B5-A4E2-3484B11A6574}" type="VALUE">
                      <a:rPr lang="en-US">
                        <a:solidFill>
                          <a:schemeClr val="accent3">
                            <a:lumMod val="50000"/>
                            <a:alpha val="33000"/>
                          </a:schemeClr>
                        </a:solidFill>
                      </a:rPr>
                      <a:pPr>
                        <a:defRPr b="1">
                          <a:solidFill>
                            <a:schemeClr val="accent3">
                              <a:lumMod val="50000"/>
                              <a:alpha val="33000"/>
                            </a:schemeClr>
                          </a:solidFill>
                        </a:defRPr>
                      </a:pPr>
                      <a:t>[VALUE]</a:t>
                    </a:fld>
                    <a:endParaRPr lang="en-AU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1" i="0" u="none" strike="noStrike" kern="1200" baseline="0">
                      <a:solidFill>
                        <a:schemeClr val="accent3">
                          <a:lumMod val="50000"/>
                          <a:alpha val="33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1083-4A41-9C80-91BDD2FA9323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7AEB6AFC-58C7-43B9-A43D-BEC1D83B1AFE}" type="VALUE">
                      <a:rPr lang="en-US">
                        <a:solidFill>
                          <a:schemeClr val="bg1">
                            <a:lumMod val="85000"/>
                          </a:schemeClr>
                        </a:solidFill>
                      </a:rPr>
                      <a:pPr/>
                      <a:t>[VALUE]</a:t>
                    </a:fld>
                    <a:endParaRPr lang="en-AU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1083-4A41-9C80-91BDD2FA932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rgbClr val="0D3512">
                        <a:alpha val="69000"/>
                      </a:srgb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Sheet3!$F$21:$F$24</c:f>
              <c:strCache>
                <c:ptCount val="4"/>
                <c:pt idx="0">
                  <c:v>Low </c:v>
                </c:pt>
                <c:pt idx="1">
                  <c:v>Moderate </c:v>
                </c:pt>
                <c:pt idx="2">
                  <c:v>High </c:v>
                </c:pt>
                <c:pt idx="3">
                  <c:v>Very High </c:v>
                </c:pt>
              </c:strCache>
            </c:strRef>
          </c:cat>
          <c:val>
            <c:numRef>
              <c:f>Sheet3!$G$21:$G$24</c:f>
              <c:numCache>
                <c:formatCode>General</c:formatCode>
                <c:ptCount val="4"/>
                <c:pt idx="0">
                  <c:v>64</c:v>
                </c:pt>
                <c:pt idx="1">
                  <c:v>122</c:v>
                </c:pt>
                <c:pt idx="2">
                  <c:v>161</c:v>
                </c:pt>
                <c:pt idx="3">
                  <c:v>153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083-4A41-9C80-91BDD2FA93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494942479"/>
        <c:axId val="1494943919"/>
      </c:barChart>
      <c:catAx>
        <c:axId val="14949424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4943919"/>
        <c:crosses val="autoZero"/>
        <c:auto val="1"/>
        <c:lblAlgn val="ctr"/>
        <c:lblOffset val="100"/>
        <c:noMultiLvlLbl val="0"/>
      </c:catAx>
      <c:valAx>
        <c:axId val="1494943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4942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>
              <a:alpha val="69000"/>
            </a:schemeClr>
          </a:solidFill>
        </a:defRPr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80" b="1" i="0" u="none" strike="noStrike" kern="1200" spc="0" baseline="0">
                <a:solidFill>
                  <a:schemeClr val="accent3">
                    <a:lumMod val="50000"/>
                    <a:alpha val="84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AU" b="1" dirty="0">
                <a:solidFill>
                  <a:schemeClr val="accent3">
                    <a:lumMod val="50000"/>
                    <a:alpha val="71000"/>
                  </a:schemeClr>
                </a:solidFill>
              </a:rPr>
              <a:t>Mid-Value</a:t>
            </a:r>
            <a:r>
              <a:rPr lang="en-AU" b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AU" b="1" dirty="0">
                <a:solidFill>
                  <a:schemeClr val="accent3">
                    <a:lumMod val="50000"/>
                    <a:alpha val="71000"/>
                  </a:schemeClr>
                </a:solidFill>
              </a:rPr>
              <a:t>Homes Dominate </a:t>
            </a:r>
            <a:r>
              <a:rPr lang="en-AU" b="1" dirty="0">
                <a:solidFill>
                  <a:schemeClr val="accent3">
                    <a:lumMod val="50000"/>
                    <a:alpha val="32000"/>
                  </a:schemeClr>
                </a:solidFill>
              </a:rPr>
              <a:t>Customer Demand</a:t>
            </a:r>
            <a:endParaRPr lang="en-US" b="1" dirty="0">
              <a:solidFill>
                <a:schemeClr val="accent3">
                  <a:lumMod val="50000"/>
                  <a:alpha val="32000"/>
                </a:schemeClr>
              </a:solidFill>
            </a:endParaRPr>
          </a:p>
        </c:rich>
      </c:tx>
      <c:overlay val="0"/>
      <c:spPr>
        <a:solidFill>
          <a:schemeClr val="bg1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80" b="1" i="0" u="none" strike="noStrike" kern="1200" spc="0" baseline="0">
              <a:solidFill>
                <a:schemeClr val="accent3">
                  <a:lumMod val="50000"/>
                  <a:alpha val="84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0021745608550724E-2"/>
          <c:y val="0.16156309813287179"/>
          <c:w val="0.68084619812163083"/>
          <c:h val="0.7333852355379465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Sheet3!$L$15</c:f>
              <c:strCache>
                <c:ptCount val="1"/>
                <c:pt idx="0">
                  <c:v>Number of customers</c:v>
                </c:pt>
              </c:strCache>
            </c:strRef>
          </c:tx>
          <c:spPr>
            <a:solidFill>
              <a:schemeClr val="bg2">
                <a:lumMod val="5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D3512">
                  <a:alpha val="31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275-4634-8F59-6590621BA438}"/>
              </c:ext>
            </c:extLst>
          </c:dPt>
          <c:dPt>
            <c:idx val="1"/>
            <c:invertIfNegative val="0"/>
            <c:bubble3D val="0"/>
            <c:spPr>
              <a:solidFill>
                <a:srgbClr val="0D3512">
                  <a:alpha val="8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275-4634-8F59-6590621BA438}"/>
              </c:ext>
            </c:extLst>
          </c:dPt>
          <c:dPt>
            <c:idx val="2"/>
            <c:invertIfNegative val="0"/>
            <c:bubble3D val="0"/>
            <c:spPr>
              <a:solidFill>
                <a:srgbClr val="0D3512">
                  <a:alpha val="63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275-4634-8F59-6590621BA438}"/>
              </c:ext>
            </c:extLst>
          </c:dPt>
          <c:dPt>
            <c:idx val="3"/>
            <c:invertIfNegative val="0"/>
            <c:bubble3D val="0"/>
            <c:spPr>
              <a:solidFill>
                <a:srgbClr val="0D3512">
                  <a:alpha val="31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275-4634-8F59-6590621BA438}"/>
              </c:ext>
            </c:extLst>
          </c:dPt>
          <c:dPt>
            <c:idx val="4"/>
            <c:invertIfNegative val="0"/>
            <c:bubble3D val="0"/>
            <c:spPr>
              <a:solidFill>
                <a:srgbClr val="0D3512">
                  <a:alpha val="13725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7275-4634-8F59-6590621BA438}"/>
              </c:ext>
            </c:extLst>
          </c:dPt>
          <c:dPt>
            <c:idx val="5"/>
            <c:invertIfNegative val="0"/>
            <c:bubble3D val="0"/>
            <c:spPr>
              <a:solidFill>
                <a:srgbClr val="0D3512">
                  <a:alpha val="14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7275-4634-8F59-6590621BA438}"/>
              </c:ext>
            </c:extLst>
          </c:dPt>
          <c:dLbls>
            <c:dLbl>
              <c:idx val="0"/>
              <c:layout>
                <c:manualLayout>
                  <c:x val="-4.6693588400430674E-3"/>
                  <c:y val="0"/>
                </c:manualLayout>
              </c:layout>
              <c:tx>
                <c:rich>
                  <a:bodyPr/>
                  <a:lstStyle/>
                  <a:p>
                    <a:fld id="{571D6F5E-AE4F-4B5D-8956-6E9EAF724FEA}" type="VALUE">
                      <a:rPr lang="en-US"/>
                      <a:pPr/>
                      <a:t>[VALUE]</a:t>
                    </a:fld>
                    <a:endParaRPr lang="en-AU"/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7275-4634-8F59-6590621BA43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310D9E22-9B49-4D0F-A88A-BC943DC371F7}" type="VALUE">
                      <a:rPr lang="en-US" baseline="0">
                        <a:solidFill>
                          <a:srgbClr val="0D3512">
                            <a:alpha val="85000"/>
                          </a:srgbClr>
                        </a:solidFill>
                      </a:rPr>
                      <a:pPr/>
                      <a:t>[VALUE]</a:t>
                    </a:fld>
                    <a:endParaRPr lang="en-AU"/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7275-4634-8F59-6590621BA438}"/>
                </c:ext>
              </c:extLst>
            </c:dLbl>
            <c:dLbl>
              <c:idx val="2"/>
              <c:layout>
                <c:manualLayout>
                  <c:x val="5.7524111080002049E-3"/>
                  <c:y val="-9.4988829243372909E-3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lang="en-US" sz="900" b="1" i="0" u="none" strike="noStrike" kern="1200" baseline="0">
                        <a:solidFill>
                          <a:srgbClr val="0D3512">
                            <a:alpha val="33000"/>
                          </a:srgb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dirty="0">
                        <a:solidFill>
                          <a:srgbClr val="0D3512">
                            <a:alpha val="33000"/>
                          </a:srgbClr>
                        </a:solidFill>
                      </a:rPr>
                      <a:t> </a:t>
                    </a:r>
                    <a:fld id="{95CE267F-FF96-4E0D-B625-64076D47606B}" type="VALUE">
                      <a:rPr lang="en-US">
                        <a:solidFill>
                          <a:srgbClr val="0D3512">
                            <a:alpha val="33000"/>
                          </a:srgbClr>
                        </a:solidFill>
                      </a:rPr>
                      <a:pPr>
                        <a:defRPr b="1">
                          <a:solidFill>
                            <a:srgbClr val="0D3512">
                              <a:alpha val="33000"/>
                            </a:srgbClr>
                          </a:solidFill>
                        </a:defRPr>
                      </a:pPr>
                      <a:t>[VALUE]</a:t>
                    </a:fld>
                    <a:endParaRPr lang="en-US" dirty="0">
                      <a:solidFill>
                        <a:srgbClr val="0D3512">
                          <a:alpha val="33000"/>
                        </a:srgbClr>
                      </a:solidFill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lang="en-US" sz="900" b="1" i="0" u="none" strike="noStrike" kern="1200" baseline="0">
                      <a:solidFill>
                        <a:srgbClr val="0D3512">
                          <a:alpha val="33000"/>
                        </a:srgb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323133590506367"/>
                      <c:h val="6.546373988474459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7275-4634-8F59-6590621BA43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 69 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8191260956974709"/>
                      <c:h val="6.6048538255690681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7-7275-4634-8F59-6590621BA43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 </a:t>
                    </a:r>
                    <a:fld id="{1882D1CD-4729-42EF-AE88-817F28663B08}" type="VALUE">
                      <a:rPr lang="en-US"/>
                      <a:pPr/>
                      <a:t>[VALUE]</a:t>
                    </a:fld>
                    <a:endParaRPr lang="en-US"/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7275-4634-8F59-6590621BA438}"/>
                </c:ext>
              </c:extLst>
            </c:dLbl>
            <c:dLbl>
              <c:idx val="5"/>
              <c:layout>
                <c:manualLayout>
                  <c:x val="1.1013614605440508E-2"/>
                  <c:y val="4.7353304496289481E-3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lang="en-US" sz="900" b="1" i="0" u="none" strike="noStrike" kern="1200" baseline="0">
                        <a:solidFill>
                          <a:srgbClr val="0D3512">
                            <a:alpha val="14000"/>
                          </a:srgb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b="1"/>
                      <a:t> </a:t>
                    </a:r>
                    <a:fld id="{157C5708-3C0B-4BBA-97B7-2302C2B27F93}" type="VALUE">
                      <a:rPr lang="en-US" b="1"/>
                      <a:pPr>
                        <a:defRPr b="1"/>
                      </a:pPr>
                      <a:t>[VALUE]</a:t>
                    </a:fld>
                    <a:endParaRPr lang="en-US" b="1"/>
                  </a:p>
                </c:rich>
              </c:tx>
              <c:spPr>
                <a:solidFill>
                  <a:schemeClr val="bg1">
                    <a:alpha val="14118"/>
                  </a:schemeClr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lang="en-US" sz="900" b="1" i="0" u="none" strike="noStrike" kern="1200" baseline="0">
                      <a:solidFill>
                        <a:srgbClr val="0D3512">
                          <a:alpha val="14000"/>
                        </a:srgb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7275-4634-8F59-6590621BA43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900" b="1" i="0" u="none" strike="noStrike" kern="1200" baseline="0">
                    <a:solidFill>
                      <a:srgbClr val="0D3512">
                        <a:alpha val="14000"/>
                      </a:srgb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Sheet3!$K$16:$K$21</c:f>
              <c:strCache>
                <c:ptCount val="6"/>
                <c:pt idx="0">
                  <c:v> 35K-223K</c:v>
                </c:pt>
                <c:pt idx="1">
                  <c:v>223K-411K</c:v>
                </c:pt>
                <c:pt idx="2">
                  <c:v>  411K-599K</c:v>
                </c:pt>
                <c:pt idx="3">
                  <c:v> 599K-787K</c:v>
                </c:pt>
                <c:pt idx="4">
                  <c:v> 787K-974K</c:v>
                </c:pt>
                <c:pt idx="5">
                  <c:v> &gt;974K</c:v>
                </c:pt>
              </c:strCache>
            </c:strRef>
          </c:cat>
          <c:val>
            <c:numRef>
              <c:f>Sheet3!$L$16:$L$21</c:f>
              <c:numCache>
                <c:formatCode>General</c:formatCode>
                <c:ptCount val="6"/>
                <c:pt idx="0">
                  <c:v>73</c:v>
                </c:pt>
                <c:pt idx="1">
                  <c:v>219</c:v>
                </c:pt>
                <c:pt idx="2">
                  <c:v>99</c:v>
                </c:pt>
                <c:pt idx="3">
                  <c:v>69</c:v>
                </c:pt>
                <c:pt idx="4">
                  <c:v>22</c:v>
                </c:pt>
                <c:pt idx="5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275-4634-8F59-6590621BA4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33383983"/>
        <c:axId val="1820615199"/>
      </c:barChart>
      <c:catAx>
        <c:axId val="183338398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820615199"/>
        <c:crosses val="autoZero"/>
        <c:auto val="1"/>
        <c:lblAlgn val="ctr"/>
        <c:lblOffset val="100"/>
        <c:noMultiLvlLbl val="0"/>
      </c:catAx>
      <c:valAx>
        <c:axId val="18206151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rgbClr val="0D3512">
                    <a:alpha val="14000"/>
                  </a:srgb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33839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lang="en-US" sz="900" b="0" i="0" u="none" strike="noStrike" kern="1200" baseline="0">
          <a:solidFill>
            <a:srgbClr val="0D3512">
              <a:alpha val="14000"/>
            </a:srgbClr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400" b="0" i="0" u="none" strike="noStrike" kern="1200" spc="0" baseline="0">
                <a:solidFill>
                  <a:srgbClr val="196B24">
                    <a:lumMod val="75000"/>
                    <a:alpha val="84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AU" sz="1100" b="1" dirty="0">
                <a:solidFill>
                  <a:srgbClr val="196B24">
                    <a:lumMod val="75000"/>
                    <a:alpha val="75000"/>
                  </a:srgbClr>
                </a:solidFill>
              </a:rPr>
              <a:t>Customer Base Is Concentrated in Lower Income Segments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400" b="0" i="0" u="none" strike="noStrike" kern="1200" spc="0" baseline="0">
              <a:solidFill>
                <a:srgbClr val="196B24">
                  <a:lumMod val="75000"/>
                  <a:alpha val="84000"/>
                </a:srgbClr>
              </a:solidFill>
              <a:latin typeface="+mn-lt"/>
              <a:ea typeface="+mn-ea"/>
              <a:cs typeface="+mn-cs"/>
            </a:defRPr>
          </a:pPr>
          <a:endParaRPr lang="en-AU"/>
        </a:p>
      </c:txPr>
    </c:title>
    <c:autoTitleDeleted val="0"/>
    <c:plotArea>
      <c:layout>
        <c:manualLayout>
          <c:layoutTarget val="inner"/>
          <c:xMode val="edge"/>
          <c:yMode val="edge"/>
          <c:x val="0.33150469632294327"/>
          <c:y val="0.16371924311200137"/>
          <c:w val="0.5976943906342036"/>
          <c:h val="0.7185836825681205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Sheet2!$B$114</c:f>
              <c:strCache>
                <c:ptCount val="1"/>
                <c:pt idx="0">
                  <c:v>Number Of Customer</c:v>
                </c:pt>
              </c:strCache>
            </c:strRef>
          </c:tx>
          <c:spPr>
            <a:solidFill>
              <a:srgbClr val="0D351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D3512">
                  <a:alpha val="14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5D5-4D62-A049-A6F6BBBEFF6E}"/>
              </c:ext>
            </c:extLst>
          </c:dPt>
          <c:dPt>
            <c:idx val="1"/>
            <c:invertIfNegative val="0"/>
            <c:bubble3D val="0"/>
            <c:spPr>
              <a:solidFill>
                <a:srgbClr val="0D3512">
                  <a:alpha val="31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5D5-4D62-A049-A6F6BBBEFF6E}"/>
              </c:ext>
            </c:extLst>
          </c:dPt>
          <c:dPt>
            <c:idx val="2"/>
            <c:invertIfNegative val="0"/>
            <c:bubble3D val="0"/>
            <c:spPr>
              <a:solidFill>
                <a:srgbClr val="0D3512">
                  <a:alpha val="63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5D5-4D62-A049-A6F6BBBEFF6E}"/>
              </c:ext>
            </c:extLst>
          </c:dPt>
          <c:dPt>
            <c:idx val="3"/>
            <c:invertIfNegative val="0"/>
            <c:bubble3D val="0"/>
            <c:spPr>
              <a:solidFill>
                <a:srgbClr val="0D3512">
                  <a:alpha val="8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5D5-4D62-A049-A6F6BBBEFF6E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900" b="0" i="0" u="none" strike="noStrike" kern="1200" baseline="0">
                        <a:solidFill>
                          <a:schemeClr val="accent3">
                            <a:lumMod val="50000"/>
                            <a:alpha val="14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AE912757-0E5E-47E5-9A91-32DE80FBC358}" type="VALUE">
                      <a:rPr lang="en-US" b="1">
                        <a:solidFill>
                          <a:schemeClr val="accent3">
                            <a:lumMod val="50000"/>
                            <a:alpha val="14000"/>
                          </a:schemeClr>
                        </a:solidFill>
                      </a:rPr>
                      <a:pPr>
                        <a:defRPr>
                          <a:solidFill>
                            <a:schemeClr val="accent3">
                              <a:lumMod val="50000"/>
                              <a:alpha val="14000"/>
                            </a:schemeClr>
                          </a:solidFill>
                        </a:defRPr>
                      </a:pPr>
                      <a:t>[VALUE]</a:t>
                    </a:fld>
                    <a:endParaRPr lang="en-AU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accent3">
                          <a:lumMod val="50000"/>
                          <a:alpha val="14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85D5-4D62-A049-A6F6BBBEFF6E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accent3">
                          <a:lumMod val="50000"/>
                          <a:alpha val="29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85D5-4D62-A049-A6F6BBBEFF6E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accent3">
                          <a:lumMod val="50000"/>
                          <a:alpha val="63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85D5-4D62-A049-A6F6BBBEFF6E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accent3">
                          <a:lumMod val="50000"/>
                          <a:alpha val="84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85D5-4D62-A049-A6F6BBBEFF6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accent1">
                        <a:lumMod val="40000"/>
                        <a:lumOff val="60000"/>
                        <a:alpha val="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Sheet2!$A$115:$A$118</c:f>
              <c:strCache>
                <c:ptCount val="4"/>
                <c:pt idx="0">
                  <c:v>18k-172k</c:v>
                </c:pt>
                <c:pt idx="1">
                  <c:v>172k-326k</c:v>
                </c:pt>
                <c:pt idx="2">
                  <c:v>326k-480k</c:v>
                </c:pt>
                <c:pt idx="3">
                  <c:v>&gt;480k</c:v>
                </c:pt>
              </c:strCache>
            </c:strRef>
          </c:cat>
          <c:val>
            <c:numRef>
              <c:f>Sheet2!$B$115:$B$118</c:f>
              <c:numCache>
                <c:formatCode>General</c:formatCode>
                <c:ptCount val="4"/>
                <c:pt idx="0">
                  <c:v>401</c:v>
                </c:pt>
                <c:pt idx="1">
                  <c:v>85</c:v>
                </c:pt>
                <c:pt idx="2">
                  <c:v>9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5D5-4D62-A049-A6F6BBBEFF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129517888"/>
        <c:axId val="2129527488"/>
      </c:barChart>
      <c:catAx>
        <c:axId val="2129517888"/>
        <c:scaling>
          <c:orientation val="minMax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196B24">
                        <a:lumMod val="75000"/>
                      </a:srgb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AU" b="1">
                    <a:solidFill>
                      <a:srgbClr val="196B24">
                        <a:lumMod val="75000"/>
                      </a:srgbClr>
                    </a:solidFill>
                  </a:rPr>
                  <a:t>Income Level</a:t>
                </a:r>
              </a:p>
            </c:rich>
          </c:tx>
          <c:layout>
            <c:manualLayout>
              <c:xMode val="edge"/>
              <c:yMode val="edge"/>
              <c:x val="8.948192532738191E-3"/>
              <c:y val="0.2126513464769536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000" b="1" i="0" u="none" strike="noStrike" kern="1200" baseline="0">
                  <a:solidFill>
                    <a:srgbClr val="196B24">
                      <a:lumMod val="75000"/>
                    </a:srgbClr>
                  </a:solidFill>
                  <a:latin typeface="+mn-lt"/>
                  <a:ea typeface="+mn-ea"/>
                  <a:cs typeface="+mn-cs"/>
                </a:defRPr>
              </a:pPr>
              <a:endParaRPr lang="en-A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3">
                    <a:lumMod val="75000"/>
                    <a:alpha val="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9527488"/>
        <c:crosses val="autoZero"/>
        <c:auto val="1"/>
        <c:lblAlgn val="ctr"/>
        <c:lblOffset val="100"/>
        <c:noMultiLvlLbl val="0"/>
      </c:catAx>
      <c:valAx>
        <c:axId val="21295274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3">
                    <a:lumMod val="75000"/>
                    <a:alpha val="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9517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accent3">
              <a:lumMod val="75000"/>
              <a:alpha val="0"/>
            </a:schemeClr>
          </a:solidFill>
        </a:defRPr>
      </a:pPr>
      <a:endParaRPr lang="en-US"/>
    </a:p>
  </c:txPr>
  <c:externalData r:id="rId3">
    <c:autoUpdate val="0"/>
  </c:externalData>
  <c:userShapes r:id="rId4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0D3512">
                    <a:alpha val="71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AU" sz="1400" b="1" i="0" u="none" strike="noStrike" baseline="0" dirty="0">
                <a:solidFill>
                  <a:srgbClr val="0D3512">
                    <a:alpha val="75000"/>
                  </a:srgbClr>
                </a:solidFill>
              </a:rPr>
              <a:t>Area Codes 6 &amp; 48 Lead Top 10 Home Sales</a:t>
            </a:r>
            <a:endParaRPr lang="en-AU" b="1" dirty="0">
              <a:solidFill>
                <a:srgbClr val="0D3512">
                  <a:alpha val="75000"/>
                </a:srgb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rgbClr val="0D3512">
                  <a:alpha val="71000"/>
                </a:srgbClr>
              </a:solidFill>
              <a:latin typeface="+mn-lt"/>
              <a:ea typeface="+mn-ea"/>
              <a:cs typeface="+mn-cs"/>
            </a:defRPr>
          </a:pPr>
          <a:endParaRPr lang="en-AU"/>
        </a:p>
      </c:txPr>
    </c:title>
    <c:autoTitleDeleted val="0"/>
    <c:plotArea>
      <c:layout>
        <c:manualLayout>
          <c:layoutTarget val="inner"/>
          <c:xMode val="edge"/>
          <c:yMode val="edge"/>
          <c:x val="0.11061890616748048"/>
          <c:y val="0.2355686623144721"/>
          <c:w val="0.75334332851996966"/>
          <c:h val="0.54661406244733568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chemeClr val="bg1">
                <a:lumMod val="50000"/>
                <a:alpha val="79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D3512">
                  <a:alpha val="72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B7D-43BD-A732-DA45036B6C21}"/>
              </c:ext>
            </c:extLst>
          </c:dPt>
          <c:dPt>
            <c:idx val="1"/>
            <c:invertIfNegative val="0"/>
            <c:bubble3D val="0"/>
            <c:spPr>
              <a:solidFill>
                <a:srgbClr val="0D3512">
                  <a:alpha val="57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B7D-43BD-A732-DA45036B6C21}"/>
              </c:ext>
            </c:extLst>
          </c:dPt>
          <c:dPt>
            <c:idx val="2"/>
            <c:invertIfNegative val="0"/>
            <c:bubble3D val="0"/>
            <c:spPr>
              <a:solidFill>
                <a:srgbClr val="0D3512">
                  <a:alpha val="54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B7D-43BD-A732-DA45036B6C21}"/>
              </c:ext>
            </c:extLst>
          </c:dPt>
          <c:dPt>
            <c:idx val="3"/>
            <c:invertIfNegative val="0"/>
            <c:bubble3D val="0"/>
            <c:spPr>
              <a:solidFill>
                <a:srgbClr val="0D3512">
                  <a:alpha val="37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B7D-43BD-A732-DA45036B6C21}"/>
              </c:ext>
            </c:extLst>
          </c:dPt>
          <c:dPt>
            <c:idx val="4"/>
            <c:invertIfNegative val="0"/>
            <c:bubble3D val="0"/>
            <c:spPr>
              <a:solidFill>
                <a:srgbClr val="0D3512">
                  <a:alpha val="38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7B7D-43BD-A732-DA45036B6C21}"/>
              </c:ext>
            </c:extLst>
          </c:dPt>
          <c:dPt>
            <c:idx val="5"/>
            <c:invertIfNegative val="0"/>
            <c:bubble3D val="0"/>
            <c:spPr>
              <a:solidFill>
                <a:srgbClr val="0D3512">
                  <a:alpha val="3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7B7D-43BD-A732-DA45036B6C21}"/>
              </c:ext>
            </c:extLst>
          </c:dPt>
          <c:dPt>
            <c:idx val="6"/>
            <c:invertIfNegative val="0"/>
            <c:bubble3D val="0"/>
            <c:spPr>
              <a:solidFill>
                <a:srgbClr val="0D3512">
                  <a:alpha val="29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7B7D-43BD-A732-DA45036B6C21}"/>
              </c:ext>
            </c:extLst>
          </c:dPt>
          <c:dPt>
            <c:idx val="7"/>
            <c:invertIfNegative val="0"/>
            <c:bubble3D val="0"/>
            <c:spPr>
              <a:solidFill>
                <a:srgbClr val="0D3512">
                  <a:alpha val="29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7B7D-43BD-A732-DA45036B6C21}"/>
              </c:ext>
            </c:extLst>
          </c:dPt>
          <c:dPt>
            <c:idx val="8"/>
            <c:invertIfNegative val="0"/>
            <c:bubble3D val="0"/>
            <c:spPr>
              <a:solidFill>
                <a:srgbClr val="0D3512">
                  <a:alpha val="26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7B7D-43BD-A732-DA45036B6C21}"/>
              </c:ext>
            </c:extLst>
          </c:dPt>
          <c:dPt>
            <c:idx val="9"/>
            <c:invertIfNegative val="0"/>
            <c:bubble3D val="0"/>
            <c:spPr>
              <a:solidFill>
                <a:srgbClr val="0D3512">
                  <a:alpha val="16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7B7D-43BD-A732-DA45036B6C21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D3512">
                          <a:alpha val="72000"/>
                        </a:srgb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B7D-43BD-A732-DA45036B6C21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D3512">
                          <a:alpha val="57000"/>
                        </a:srgb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7B7D-43BD-A732-DA45036B6C21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D3512">
                          <a:alpha val="54000"/>
                        </a:srgb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7B7D-43BD-A732-DA45036B6C21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D3512">
                          <a:alpha val="38000"/>
                        </a:srgb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7B7D-43BD-A732-DA45036B6C21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D3512">
                          <a:alpha val="38000"/>
                        </a:srgb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7B7D-43BD-A732-DA45036B6C21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D3512">
                          <a:alpha val="35000"/>
                        </a:srgb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7B7D-43BD-A732-DA45036B6C21}"/>
                </c:ext>
              </c:extLst>
            </c:dLbl>
            <c:dLbl>
              <c:idx val="6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D3512">
                          <a:alpha val="29000"/>
                        </a:srgb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D-7B7D-43BD-A732-DA45036B6C21}"/>
                </c:ext>
              </c:extLst>
            </c:dLbl>
            <c:dLbl>
              <c:idx val="7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D3512">
                          <a:alpha val="29000"/>
                        </a:srgb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F-7B7D-43BD-A732-DA45036B6C21}"/>
                </c:ext>
              </c:extLst>
            </c:dLbl>
            <c:dLbl>
              <c:idx val="8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D3512">
                          <a:alpha val="26000"/>
                        </a:srgb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1-7B7D-43BD-A732-DA45036B6C21}"/>
                </c:ext>
              </c:extLst>
            </c:dLbl>
            <c:dLbl>
              <c:idx val="9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D3512">
                          <a:alpha val="16000"/>
                        </a:srgb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3-7B7D-43BD-A732-DA45036B6C2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D3512">
                        <a:alpha val="61000"/>
                      </a:srgb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Sheet4!$N$110:$N$119</c:f>
              <c:strCache>
                <c:ptCount val="10"/>
                <c:pt idx="0">
                  <c:v>6</c:v>
                </c:pt>
                <c:pt idx="1">
                  <c:v>48</c:v>
                </c:pt>
                <c:pt idx="2">
                  <c:v>12</c:v>
                </c:pt>
                <c:pt idx="3">
                  <c:v>8</c:v>
                </c:pt>
                <c:pt idx="4">
                  <c:v>53</c:v>
                </c:pt>
                <c:pt idx="5">
                  <c:v>39</c:v>
                </c:pt>
                <c:pt idx="6">
                  <c:v>17</c:v>
                </c:pt>
                <c:pt idx="7">
                  <c:v>26</c:v>
                </c:pt>
                <c:pt idx="8">
                  <c:v>36</c:v>
                </c:pt>
                <c:pt idx="9">
                  <c:v>4</c:v>
                </c:pt>
              </c:strCache>
            </c:strRef>
          </c:cat>
          <c:val>
            <c:numRef>
              <c:f>Sheet4!$O$110:$O$119</c:f>
              <c:numCache>
                <c:formatCode>General</c:formatCode>
                <c:ptCount val="10"/>
                <c:pt idx="0">
                  <c:v>80</c:v>
                </c:pt>
                <c:pt idx="1">
                  <c:v>31</c:v>
                </c:pt>
                <c:pt idx="2">
                  <c:v>23</c:v>
                </c:pt>
                <c:pt idx="3">
                  <c:v>21</c:v>
                </c:pt>
                <c:pt idx="4">
                  <c:v>21</c:v>
                </c:pt>
                <c:pt idx="5">
                  <c:v>19</c:v>
                </c:pt>
                <c:pt idx="6">
                  <c:v>18</c:v>
                </c:pt>
                <c:pt idx="7">
                  <c:v>17</c:v>
                </c:pt>
                <c:pt idx="8">
                  <c:v>17</c:v>
                </c:pt>
                <c:pt idx="9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7B7D-43BD-A732-DA45036B6C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74919024"/>
        <c:axId val="274920464"/>
      </c:barChart>
      <c:catAx>
        <c:axId val="274919024"/>
        <c:scaling>
          <c:orientation val="minMax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0D3512">
                        <a:alpha val="86000"/>
                      </a:srgb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AU" sz="800" b="1">
                    <a:solidFill>
                      <a:srgbClr val="0D3512">
                        <a:alpha val="86000"/>
                      </a:srgbClr>
                    </a:solidFill>
                  </a:rPr>
                  <a:t>Area</a:t>
                </a:r>
                <a:r>
                  <a:rPr lang="en-AU" sz="800" b="1" baseline="0">
                    <a:solidFill>
                      <a:srgbClr val="0D3512">
                        <a:alpha val="86000"/>
                      </a:srgbClr>
                    </a:solidFill>
                  </a:rPr>
                  <a:t> Code</a:t>
                </a:r>
                <a:endParaRPr lang="en-AU" sz="800" b="1">
                  <a:solidFill>
                    <a:srgbClr val="0D3512">
                      <a:alpha val="86000"/>
                    </a:srgbClr>
                  </a:solidFill>
                </a:endParaRPr>
              </a:p>
            </c:rich>
          </c:tx>
          <c:layout>
            <c:manualLayout>
              <c:xMode val="edge"/>
              <c:yMode val="edge"/>
              <c:x val="2.7853760301504893E-3"/>
              <c:y val="0.1747043821426409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000" b="1" i="0" u="none" strike="noStrike" kern="1200" baseline="0">
                  <a:solidFill>
                    <a:srgbClr val="0D3512">
                      <a:alpha val="86000"/>
                    </a:srgbClr>
                  </a:solidFill>
                  <a:latin typeface="+mn-lt"/>
                  <a:ea typeface="+mn-ea"/>
                  <a:cs typeface="+mn-cs"/>
                </a:defRPr>
              </a:pPr>
              <a:endParaRPr lang="en-A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rgbClr val="0D3512">
                    <a:alpha val="61000"/>
                  </a:srgb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4920464"/>
        <c:crosses val="autoZero"/>
        <c:auto val="1"/>
        <c:lblAlgn val="ctr"/>
        <c:lblOffset val="100"/>
        <c:noMultiLvlLbl val="0"/>
      </c:catAx>
      <c:valAx>
        <c:axId val="27492046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0D3512">
                        <a:alpha val="28000"/>
                      </a:srgb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>
                    <a:solidFill>
                      <a:srgbClr val="0D3512">
                        <a:alpha val="28000"/>
                      </a:srgbClr>
                    </a:solidFill>
                  </a:rPr>
                  <a:t>Homes</a:t>
                </a:r>
                <a:r>
                  <a:rPr lang="en-US" b="1" baseline="0">
                    <a:solidFill>
                      <a:srgbClr val="0D3512">
                        <a:alpha val="28000"/>
                      </a:srgbClr>
                    </a:solidFill>
                  </a:rPr>
                  <a:t> Purchased</a:t>
                </a:r>
                <a:endParaRPr lang="en-US" b="1">
                  <a:solidFill>
                    <a:srgbClr val="0D3512">
                      <a:alpha val="28000"/>
                    </a:srgbClr>
                  </a:solidFill>
                </a:endParaRPr>
              </a:p>
            </c:rich>
          </c:tx>
          <c:layout>
            <c:manualLayout>
              <c:xMode val="edge"/>
              <c:yMode val="edge"/>
              <c:x val="0.11679638683554298"/>
              <c:y val="0.80586075157323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rgbClr val="0D3512">
                      <a:alpha val="28000"/>
                    </a:srgb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49190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0D3512">
                    <a:alpha val="8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AU" sz="1400" b="1" i="0" u="none" strike="noStrike" baseline="0" dirty="0">
                <a:solidFill>
                  <a:srgbClr val="0D3512">
                    <a:alpha val="77000"/>
                  </a:srgbClr>
                </a:solidFill>
              </a:rPr>
              <a:t>Most Customers Maintain Higher LTV Levels</a:t>
            </a:r>
            <a:endParaRPr lang="en-US" b="1" dirty="0">
              <a:solidFill>
                <a:srgbClr val="0D3512">
                  <a:alpha val="77000"/>
                </a:srgb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rgbClr val="0D3512">
                  <a:alpha val="85000"/>
                </a:srgb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3720932922350926"/>
          <c:y val="0.17372475544494345"/>
          <c:w val="0.67675852513261936"/>
          <c:h val="0.6571404614565785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Sheet3!$B$42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0D3512">
                <a:alpha val="85000"/>
              </a:srgb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0D3512">
                  <a:alpha val="63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969-4B8D-AFEA-FDC96340C4BD}"/>
              </c:ext>
            </c:extLst>
          </c:dPt>
          <c:dPt>
            <c:idx val="2"/>
            <c:invertIfNegative val="0"/>
            <c:bubble3D val="0"/>
            <c:spPr>
              <a:solidFill>
                <a:srgbClr val="0D3512">
                  <a:alpha val="31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969-4B8D-AFEA-FDC96340C4BD}"/>
              </c:ext>
            </c:extLst>
          </c:dPt>
          <c:dPt>
            <c:idx val="3"/>
            <c:invertIfNegative val="0"/>
            <c:bubble3D val="0"/>
            <c:spPr>
              <a:solidFill>
                <a:srgbClr val="0D3512">
                  <a:alpha val="14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969-4B8D-AFEA-FDC96340C4BD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D3512">
                          <a:alpha val="63000"/>
                        </a:srgb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8969-4B8D-AFEA-FDC96340C4BD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D3512">
                          <a:alpha val="31000"/>
                        </a:srgb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8969-4B8D-AFEA-FDC96340C4BD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D3512">
                          <a:alpha val="14000"/>
                        </a:srgb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8969-4B8D-AFEA-FDC96340C4B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D351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Sheet3!$A$43:$A$46</c:f>
              <c:strCache>
                <c:ptCount val="4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  <c:pt idx="3">
                  <c:v>Very High</c:v>
                </c:pt>
              </c:strCache>
            </c:strRef>
          </c:cat>
          <c:val>
            <c:numRef>
              <c:f>Sheet3!$B$43:$B$46</c:f>
              <c:numCache>
                <c:formatCode>General</c:formatCode>
                <c:ptCount val="4"/>
                <c:pt idx="0">
                  <c:v>65</c:v>
                </c:pt>
                <c:pt idx="1">
                  <c:v>139</c:v>
                </c:pt>
                <c:pt idx="2">
                  <c:v>187</c:v>
                </c:pt>
                <c:pt idx="3">
                  <c:v>109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969-4B8D-AFEA-FDC96340C4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74923344"/>
        <c:axId val="274922384"/>
      </c:barChart>
      <c:catAx>
        <c:axId val="274923344"/>
        <c:scaling>
          <c:orientation val="minMax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0D3512">
                        <a:alpha val="77000"/>
                      </a:srgb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AU" sz="900" b="1" dirty="0">
                    <a:solidFill>
                      <a:srgbClr val="0D3512">
                        <a:alpha val="77000"/>
                      </a:srgbClr>
                    </a:solidFill>
                  </a:rPr>
                  <a:t>LTV</a:t>
                </a:r>
                <a:r>
                  <a:rPr lang="en-AU" sz="900" b="1" baseline="0" dirty="0">
                    <a:solidFill>
                      <a:srgbClr val="0D3512">
                        <a:alpha val="77000"/>
                      </a:srgbClr>
                    </a:solidFill>
                  </a:rPr>
                  <a:t> Ratio</a:t>
                </a:r>
                <a:endParaRPr lang="en-AU" sz="900" b="1" dirty="0">
                  <a:solidFill>
                    <a:srgbClr val="0D3512">
                      <a:alpha val="77000"/>
                    </a:srgbClr>
                  </a:solidFill>
                </a:endParaRPr>
              </a:p>
            </c:rich>
          </c:tx>
          <c:layout>
            <c:manualLayout>
              <c:xMode val="edge"/>
              <c:yMode val="edge"/>
              <c:x val="2.6794819154247569E-3"/>
              <c:y val="0.7225026837731235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000" b="0" i="0" u="none" strike="noStrike" kern="1200" baseline="0">
                  <a:solidFill>
                    <a:srgbClr val="0D3512">
                      <a:alpha val="77000"/>
                    </a:srgbClr>
                  </a:solidFill>
                  <a:latin typeface="+mn-lt"/>
                  <a:ea typeface="+mn-ea"/>
                  <a:cs typeface="+mn-cs"/>
                </a:defRPr>
              </a:pPr>
              <a:endParaRPr lang="en-A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D3512">
                    <a:alpha val="0"/>
                  </a:srgb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4922384"/>
        <c:crosses val="autoZero"/>
        <c:auto val="1"/>
        <c:lblAlgn val="ctr"/>
        <c:lblOffset val="100"/>
        <c:noMultiLvlLbl val="0"/>
      </c:catAx>
      <c:valAx>
        <c:axId val="2749223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AU" b="1" dirty="0">
                    <a:solidFill>
                      <a:srgbClr val="0D3512">
                        <a:alpha val="17000"/>
                      </a:srgbClr>
                    </a:solidFill>
                  </a:rPr>
                  <a:t>Customers</a:t>
                </a:r>
              </a:p>
            </c:rich>
          </c:tx>
          <c:layout>
            <c:manualLayout>
              <c:xMode val="edge"/>
              <c:yMode val="edge"/>
              <c:x val="0.13720296786356617"/>
              <c:y val="0.9181487393302429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D3512">
                    <a:alpha val="0"/>
                  </a:srgb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49233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0D3512"/>
                </a:solidFill>
                <a:latin typeface="+mn-lt"/>
                <a:ea typeface="+mn-ea"/>
                <a:cs typeface="+mn-cs"/>
              </a:defRPr>
            </a:pPr>
            <a:r>
              <a:rPr lang="en-AU" sz="1000" b="1" i="0" u="none" strike="noStrike" baseline="0" dirty="0">
                <a:solidFill>
                  <a:srgbClr val="0D3512">
                    <a:alpha val="75000"/>
                  </a:srgbClr>
                </a:solidFill>
              </a:rPr>
              <a:t>Customers Are Predominantly Located in </a:t>
            </a:r>
            <a:r>
              <a:rPr lang="en-AU" sz="1000" b="1" i="0" u="none" strike="noStrike" baseline="0" dirty="0">
                <a:solidFill>
                  <a:schemeClr val="accent3">
                    <a:lumMod val="50000"/>
                    <a:alpha val="75000"/>
                  </a:schemeClr>
                </a:solidFill>
              </a:rPr>
              <a:t>Low-Minority Areas</a:t>
            </a:r>
            <a:endParaRPr lang="en-AU" sz="1000" b="1" dirty="0">
              <a:solidFill>
                <a:schemeClr val="accent3">
                  <a:lumMod val="50000"/>
                  <a:alpha val="75000"/>
                </a:schemeClr>
              </a:solidFill>
            </a:endParaRPr>
          </a:p>
        </c:rich>
      </c:tx>
      <c:layout>
        <c:manualLayout>
          <c:xMode val="edge"/>
          <c:yMode val="edge"/>
          <c:x val="9.6565512607512283E-2"/>
          <c:y val="4.865434345369217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rgbClr val="0D3512"/>
              </a:solidFill>
              <a:latin typeface="+mn-lt"/>
              <a:ea typeface="+mn-ea"/>
              <a:cs typeface="+mn-cs"/>
            </a:defRPr>
          </a:pPr>
          <a:endParaRPr lang="en-AU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Sheet3!$E$2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0D3512">
                <a:alpha val="85000"/>
              </a:srgb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0D3512">
                  <a:alpha val="63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5C7-47CE-A8B0-EC11AA8EB74A}"/>
              </c:ext>
            </c:extLst>
          </c:dPt>
          <c:dPt>
            <c:idx val="2"/>
            <c:invertIfNegative val="0"/>
            <c:bubble3D val="0"/>
            <c:spPr>
              <a:solidFill>
                <a:srgbClr val="0D3512">
                  <a:alpha val="31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5C7-47CE-A8B0-EC11AA8EB74A}"/>
              </c:ext>
            </c:extLst>
          </c:dPt>
          <c:dPt>
            <c:idx val="3"/>
            <c:invertIfNegative val="0"/>
            <c:bubble3D val="0"/>
            <c:spPr>
              <a:solidFill>
                <a:srgbClr val="0D3512">
                  <a:alpha val="14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5C7-47CE-A8B0-EC11AA8EB74A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D3512">
                          <a:alpha val="63000"/>
                        </a:srgb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D5C7-47CE-A8B0-EC11AA8EB74A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D3512">
                          <a:alpha val="31000"/>
                        </a:srgb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D5C7-47CE-A8B0-EC11AA8EB74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5B79CA96-D6A6-4EBB-97B7-862851AEAAD2}" type="VALUE">
                      <a:rPr lang="en-US">
                        <a:solidFill>
                          <a:srgbClr val="0D3512">
                            <a:alpha val="14000"/>
                          </a:srgbClr>
                        </a:solidFill>
                      </a:rPr>
                      <a:pPr/>
                      <a:t>[VALUE]</a:t>
                    </a:fld>
                    <a:endParaRPr lang="en-AU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D5C7-47CE-A8B0-EC11AA8EB74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D3512">
                        <a:alpha val="85000"/>
                      </a:srgb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Sheet3!$D$3:$D$6</c:f>
              <c:strCache>
                <c:ptCount val="4"/>
                <c:pt idx="0">
                  <c:v>&lt;25.855(low Minority)</c:v>
                </c:pt>
                <c:pt idx="1">
                  <c:v>25.855-50.22(high)</c:v>
                </c:pt>
                <c:pt idx="2">
                  <c:v>50.23-74.585(high)</c:v>
                </c:pt>
                <c:pt idx="3">
                  <c:v>75&gt;(very high)</c:v>
                </c:pt>
              </c:strCache>
            </c:strRef>
          </c:cat>
          <c:val>
            <c:numRef>
              <c:f>Sheet3!$E$3:$E$6</c:f>
              <c:numCache>
                <c:formatCode>General</c:formatCode>
                <c:ptCount val="4"/>
                <c:pt idx="0">
                  <c:v>297</c:v>
                </c:pt>
                <c:pt idx="1">
                  <c:v>118</c:v>
                </c:pt>
                <c:pt idx="2">
                  <c:v>44</c:v>
                </c:pt>
                <c:pt idx="3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5C7-47CE-A8B0-EC11AA8EB7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737910143"/>
        <c:axId val="737910623"/>
      </c:barChart>
      <c:catAx>
        <c:axId val="737910143"/>
        <c:scaling>
          <c:orientation val="minMax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0D3512">
                        <a:alpha val="85000"/>
                      </a:srgb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AU" b="1" baseline="0" dirty="0">
                    <a:solidFill>
                      <a:srgbClr val="0D3512">
                        <a:alpha val="85000"/>
                      </a:srgbClr>
                    </a:solidFill>
                  </a:rPr>
                  <a:t>%</a:t>
                </a:r>
                <a:r>
                  <a:rPr lang="en-AU" baseline="0" dirty="0">
                    <a:solidFill>
                      <a:srgbClr val="0D3512">
                        <a:alpha val="85000"/>
                      </a:srgbClr>
                    </a:solidFill>
                  </a:rPr>
                  <a:t> </a:t>
                </a:r>
                <a:r>
                  <a:rPr lang="en-AU" b="1" baseline="0" dirty="0">
                    <a:solidFill>
                      <a:srgbClr val="0D3512">
                        <a:alpha val="85000"/>
                      </a:srgbClr>
                    </a:solidFill>
                  </a:rPr>
                  <a:t>Level</a:t>
                </a:r>
                <a:endParaRPr lang="en-AU" b="1" dirty="0">
                  <a:solidFill>
                    <a:srgbClr val="0D3512">
                      <a:alpha val="85000"/>
                    </a:srgbClr>
                  </a:solidFill>
                </a:endParaRPr>
              </a:p>
            </c:rich>
          </c:tx>
          <c:layout>
            <c:manualLayout>
              <c:xMode val="edge"/>
              <c:yMode val="edge"/>
              <c:x val="0.10032313831299666"/>
              <c:y val="0.7660029081157325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000" b="0" i="0" u="none" strike="noStrike" kern="1200" baseline="0">
                  <a:solidFill>
                    <a:srgbClr val="0D3512">
                      <a:alpha val="85000"/>
                    </a:srgbClr>
                  </a:solidFill>
                  <a:latin typeface="+mn-lt"/>
                  <a:ea typeface="+mn-ea"/>
                  <a:cs typeface="+mn-cs"/>
                </a:defRPr>
              </a:pPr>
              <a:endParaRPr lang="en-A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7910623"/>
        <c:crosses val="autoZero"/>
        <c:auto val="1"/>
        <c:lblAlgn val="ctr"/>
        <c:lblOffset val="100"/>
        <c:noMultiLvlLbl val="0"/>
      </c:catAx>
      <c:valAx>
        <c:axId val="737910623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0D3512">
                        <a:alpha val="31000"/>
                      </a:srgb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AU" b="1" dirty="0">
                    <a:solidFill>
                      <a:srgbClr val="0D3512">
                        <a:alpha val="31000"/>
                      </a:srgbClr>
                    </a:solidFill>
                  </a:rPr>
                  <a:t>Customers</a:t>
                </a:r>
              </a:p>
            </c:rich>
          </c:tx>
          <c:layout>
            <c:manualLayout>
              <c:xMode val="edge"/>
              <c:yMode val="edge"/>
              <c:x val="0.4047428760403462"/>
              <c:y val="0.8885150325203959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rgbClr val="0D3512">
                      <a:alpha val="31000"/>
                    </a:srgb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crossAx val="7379101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image" Target="../media/image2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drawing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rawing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0.76964</cdr:x>
      <cdr:y>0.55802</cdr:y>
    </cdr:from>
    <cdr:to>
      <cdr:x>1</cdr:x>
      <cdr:y>0.83142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58140322-EE50-FFF8-9391-FD6D92839204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4513635" y="1384292"/>
          <a:ext cx="1350962" cy="678230"/>
        </a:xfrm>
        <a:prstGeom xmlns:a="http://schemas.openxmlformats.org/drawingml/2006/main" prst="rect">
          <a:avLst/>
        </a:prstGeom>
      </cdr:spPr>
    </cdr:pic>
  </cdr:relSizeAnchor>
  <cdr:relSizeAnchor xmlns:cdr="http://schemas.openxmlformats.org/drawingml/2006/chartDrawing">
    <cdr:from>
      <cdr:x>0.07021</cdr:x>
      <cdr:y>0.74454</cdr:y>
    </cdr:from>
    <cdr:to>
      <cdr:x>0.16379</cdr:x>
      <cdr:y>0.83482</cdr:y>
    </cdr:to>
    <cdr:sp macro="" textlink="">
      <cdr:nvSpPr>
        <cdr:cNvPr id="3" name="Text Box 4">
          <a:extLst xmlns:a="http://schemas.openxmlformats.org/drawingml/2006/main">
            <a:ext uri="{FF2B5EF4-FFF2-40B4-BE49-F238E27FC236}">
              <a16:creationId xmlns:a16="http://schemas.microsoft.com/office/drawing/2014/main" id="{C2DD109F-D440-4AD4-B274-9AE551139E0A}"/>
            </a:ext>
          </a:extLst>
        </cdr:cNvPr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411725" y="1846997"/>
          <a:ext cx="548811" cy="223962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lIns="45720" tIns="50292" rIns="0" bIns="0" anchor="t" upright="1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 rtl="0">
            <a:lnSpc>
              <a:spcPts val="1200"/>
            </a:lnSpc>
            <a:defRPr sz="1000"/>
          </a:pPr>
          <a:r>
            <a:rPr lang="en-AU" sz="1100" b="1" i="0" u="none" strike="noStrike" baseline="0" dirty="0">
              <a:solidFill>
                <a:srgbClr val="0D3512">
                  <a:alpha val="85000"/>
                </a:srgbClr>
              </a:solidFill>
              <a:latin typeface="Aptos Narrow"/>
            </a:rPr>
            <a:t>Low</a:t>
          </a: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0.00387</cdr:x>
      <cdr:y>0.18883</cdr:y>
    </cdr:from>
    <cdr:to>
      <cdr:x>0.08765</cdr:x>
      <cdr:y>0.25762</cdr:y>
    </cdr:to>
    <cdr:pic>
      <cdr:nvPicPr>
        <cdr:cNvPr id="11" name="chart">
          <a:extLst xmlns:a="http://schemas.openxmlformats.org/drawingml/2006/main">
            <a:ext uri="{FF2B5EF4-FFF2-40B4-BE49-F238E27FC236}">
              <a16:creationId xmlns:a16="http://schemas.microsoft.com/office/drawing/2014/main" id="{8456DD5D-A99B-4F0B-E440-CEF302C3AB0B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20891" y="510538"/>
          <a:ext cx="452251" cy="185988"/>
        </a:xfrm>
        <a:prstGeom xmlns:a="http://schemas.openxmlformats.org/drawingml/2006/main" prst="rect">
          <a:avLst/>
        </a:prstGeom>
      </cdr:spPr>
    </cdr:pic>
  </cdr:relSizeAnchor>
  <cdr:relSizeAnchor xmlns:cdr="http://schemas.openxmlformats.org/drawingml/2006/chartDrawing">
    <cdr:from>
      <cdr:x>0</cdr:x>
      <cdr:y>0.30505</cdr:y>
    </cdr:from>
    <cdr:to>
      <cdr:x>0.07217</cdr:x>
      <cdr:y>0.39853</cdr:y>
    </cdr:to>
    <cdr:pic>
      <cdr:nvPicPr>
        <cdr:cNvPr id="16" name="chart">
          <a:extLst xmlns:a="http://schemas.openxmlformats.org/drawingml/2006/main">
            <a:ext uri="{FF2B5EF4-FFF2-40B4-BE49-F238E27FC236}">
              <a16:creationId xmlns:a16="http://schemas.microsoft.com/office/drawing/2014/main" id="{EB60AEC1-5791-22E9-4AB2-446411A58EE3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2"/>
        <a:stretch xmlns:a="http://schemas.openxmlformats.org/drawingml/2006/main">
          <a:fillRect/>
        </a:stretch>
      </cdr:blipFill>
      <cdr:spPr>
        <a:xfrm xmlns:a="http://schemas.openxmlformats.org/drawingml/2006/main">
          <a:off x="0" y="815677"/>
          <a:ext cx="392597" cy="249958"/>
        </a:xfrm>
        <a:prstGeom xmlns:a="http://schemas.openxmlformats.org/drawingml/2006/main" prst="rect">
          <a:avLst/>
        </a:prstGeom>
      </cdr:spPr>
    </cdr:pic>
  </cdr:relSizeAnchor>
  <cdr:relSizeAnchor xmlns:cdr="http://schemas.openxmlformats.org/drawingml/2006/chartDrawing">
    <cdr:from>
      <cdr:x>0</cdr:x>
      <cdr:y>0.42706</cdr:y>
    </cdr:from>
    <cdr:to>
      <cdr:x>0.08475</cdr:x>
      <cdr:y>0.52054</cdr:y>
    </cdr:to>
    <cdr:pic>
      <cdr:nvPicPr>
        <cdr:cNvPr id="17" name="chart">
          <a:extLst xmlns:a="http://schemas.openxmlformats.org/drawingml/2006/main">
            <a:ext uri="{FF2B5EF4-FFF2-40B4-BE49-F238E27FC236}">
              <a16:creationId xmlns:a16="http://schemas.microsoft.com/office/drawing/2014/main" id="{4222E2C0-8921-826A-0D37-B66E1971956A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3"/>
        <a:stretch xmlns:a="http://schemas.openxmlformats.org/drawingml/2006/main">
          <a:fillRect/>
        </a:stretch>
      </cdr:blipFill>
      <cdr:spPr>
        <a:xfrm xmlns:a="http://schemas.openxmlformats.org/drawingml/2006/main">
          <a:off x="0" y="1141947"/>
          <a:ext cx="461008" cy="249958"/>
        </a:xfrm>
        <a:prstGeom xmlns:a="http://schemas.openxmlformats.org/drawingml/2006/main" prst="rect">
          <a:avLst/>
        </a:prstGeom>
      </cdr:spPr>
    </cdr:pic>
  </cdr:relSizeAnchor>
  <cdr:relSizeAnchor xmlns:cdr="http://schemas.openxmlformats.org/drawingml/2006/chartDrawing">
    <cdr:from>
      <cdr:x>0</cdr:x>
      <cdr:y>0.55535</cdr:y>
    </cdr:from>
    <cdr:to>
      <cdr:x>0.08959</cdr:x>
      <cdr:y>0.63014</cdr:y>
    </cdr:to>
    <cdr:pic>
      <cdr:nvPicPr>
        <cdr:cNvPr id="18" name="chart">
          <a:extLst xmlns:a="http://schemas.openxmlformats.org/drawingml/2006/main">
            <a:ext uri="{FF2B5EF4-FFF2-40B4-BE49-F238E27FC236}">
              <a16:creationId xmlns:a16="http://schemas.microsoft.com/office/drawing/2014/main" id="{34B60218-0A68-FF39-7513-A6F5F94C78FA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4"/>
        <a:stretch xmlns:a="http://schemas.openxmlformats.org/drawingml/2006/main">
          <a:fillRect/>
        </a:stretch>
      </cdr:blipFill>
      <cdr:spPr>
        <a:xfrm xmlns:a="http://schemas.openxmlformats.org/drawingml/2006/main">
          <a:off x="0" y="1484988"/>
          <a:ext cx="487320" cy="199973"/>
        </a:xfrm>
        <a:prstGeom xmlns:a="http://schemas.openxmlformats.org/drawingml/2006/main" prst="rect">
          <a:avLst/>
        </a:prstGeom>
      </cdr:spPr>
    </cdr:pic>
  </cdr:relSizeAnchor>
  <cdr:relSizeAnchor xmlns:cdr="http://schemas.openxmlformats.org/drawingml/2006/chartDrawing">
    <cdr:from>
      <cdr:x>1.83833E-7</cdr:x>
      <cdr:y>0.67701</cdr:y>
    </cdr:from>
    <cdr:to>
      <cdr:x>0.08862</cdr:x>
      <cdr:y>0.74232</cdr:y>
    </cdr:to>
    <cdr:pic>
      <cdr:nvPicPr>
        <cdr:cNvPr id="19" name="chart">
          <a:extLst xmlns:a="http://schemas.openxmlformats.org/drawingml/2006/main">
            <a:ext uri="{FF2B5EF4-FFF2-40B4-BE49-F238E27FC236}">
              <a16:creationId xmlns:a16="http://schemas.microsoft.com/office/drawing/2014/main" id="{6157BA08-5C50-DB1C-F4BE-27F54E8C8E30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5"/>
        <a:stretch xmlns:a="http://schemas.openxmlformats.org/drawingml/2006/main">
          <a:fillRect/>
        </a:stretch>
      </cdr:blipFill>
      <cdr:spPr>
        <a:xfrm xmlns:a="http://schemas.openxmlformats.org/drawingml/2006/main">
          <a:off x="1" y="1810277"/>
          <a:ext cx="482058" cy="174643"/>
        </a:xfrm>
        <a:prstGeom xmlns:a="http://schemas.openxmlformats.org/drawingml/2006/main" prst="rect">
          <a:avLst/>
        </a:prstGeom>
      </cdr:spPr>
    </cdr:pic>
  </cdr:relSizeAnchor>
  <cdr:relSizeAnchor xmlns:cdr="http://schemas.openxmlformats.org/drawingml/2006/chartDrawing">
    <cdr:from>
      <cdr:x>0</cdr:x>
      <cdr:y>0.78918</cdr:y>
    </cdr:from>
    <cdr:to>
      <cdr:x>0.07507</cdr:x>
      <cdr:y>0.88266</cdr:y>
    </cdr:to>
    <cdr:pic>
      <cdr:nvPicPr>
        <cdr:cNvPr id="22" name="chart">
          <a:extLst xmlns:a="http://schemas.openxmlformats.org/drawingml/2006/main">
            <a:ext uri="{FF2B5EF4-FFF2-40B4-BE49-F238E27FC236}">
              <a16:creationId xmlns:a16="http://schemas.microsoft.com/office/drawing/2014/main" id="{4C9BD4F5-1A86-9D01-418F-B3676ACFE94B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6"/>
        <a:stretch xmlns:a="http://schemas.openxmlformats.org/drawingml/2006/main">
          <a:fillRect/>
        </a:stretch>
      </cdr:blipFill>
      <cdr:spPr>
        <a:xfrm xmlns:a="http://schemas.openxmlformats.org/drawingml/2006/main">
          <a:off x="0" y="2110235"/>
          <a:ext cx="408384" cy="249958"/>
        </a:xfrm>
        <a:prstGeom xmlns:a="http://schemas.openxmlformats.org/drawingml/2006/main" prst="rect">
          <a:avLst/>
        </a:prstGeom>
      </cdr:spPr>
    </cdr:pic>
  </cdr:relSizeAnchor>
  <cdr:relSizeAnchor xmlns:cdr="http://schemas.openxmlformats.org/drawingml/2006/chartDrawing">
    <cdr:from>
      <cdr:x>0.76853</cdr:x>
      <cdr:y>0.49718</cdr:y>
    </cdr:from>
    <cdr:to>
      <cdr:x>1</cdr:x>
      <cdr:y>0.75086</cdr:y>
    </cdr:to>
    <cdr:pic>
      <cdr:nvPicPr>
        <cdr:cNvPr id="4" name="chart">
          <a:extLst xmlns:a="http://schemas.openxmlformats.org/drawingml/2006/main">
            <a:ext uri="{FF2B5EF4-FFF2-40B4-BE49-F238E27FC236}">
              <a16:creationId xmlns:a16="http://schemas.microsoft.com/office/drawing/2014/main" id="{98E65130-7A7D-7223-2A7F-33593400283E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7"/>
        <a:stretch xmlns:a="http://schemas.openxmlformats.org/drawingml/2006/main">
          <a:fillRect/>
        </a:stretch>
      </cdr:blipFill>
      <cdr:spPr>
        <a:xfrm xmlns:a="http://schemas.openxmlformats.org/drawingml/2006/main">
          <a:off x="4148599" y="1344226"/>
          <a:ext cx="1249482" cy="685873"/>
        </a:xfrm>
        <a:prstGeom xmlns:a="http://schemas.openxmlformats.org/drawingml/2006/main" prst="rect">
          <a:avLst/>
        </a:prstGeom>
      </cdr:spPr>
    </cdr:pic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0.18428</cdr:x>
      <cdr:y>0.3821</cdr:y>
    </cdr:from>
    <cdr:to>
      <cdr:x>0.31036</cdr:x>
      <cdr:y>0.47668</cdr:y>
    </cdr:to>
    <cdr:sp macro="" textlink="">
      <cdr:nvSpPr>
        <cdr:cNvPr id="5" name="Text Box 4">
          <a:extLst xmlns:a="http://schemas.openxmlformats.org/drawingml/2006/main">
            <a:ext uri="{FF2B5EF4-FFF2-40B4-BE49-F238E27FC236}">
              <a16:creationId xmlns:a16="http://schemas.microsoft.com/office/drawing/2014/main" id="{17DDDEF5-437F-4A76-BEFD-367F6380E7B5}"/>
            </a:ext>
          </a:extLst>
        </cdr:cNvPr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910076" y="1040656"/>
          <a:ext cx="622666" cy="25762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lIns="45720" tIns="50292" rIns="0" bIns="0" anchor="t" upright="1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 rtl="0">
            <a:lnSpc>
              <a:spcPts val="1200"/>
            </a:lnSpc>
            <a:defRPr sz="1000"/>
          </a:pPr>
          <a:r>
            <a:rPr lang="en-AU" sz="1000" b="1" i="0" u="none" strike="noStrike" baseline="0" dirty="0">
              <a:solidFill>
                <a:srgbClr val="0D3512">
                  <a:alpha val="63000"/>
                </a:srgbClr>
              </a:solidFill>
              <a:latin typeface="Aptos Narrow"/>
            </a:rPr>
            <a:t>High</a:t>
          </a:r>
        </a:p>
      </cdr:txBody>
    </cdr:sp>
  </cdr:relSizeAnchor>
  <cdr:relSizeAnchor xmlns:cdr="http://schemas.openxmlformats.org/drawingml/2006/chartDrawing">
    <cdr:from>
      <cdr:x>0.18184</cdr:x>
      <cdr:y>0.20375</cdr:y>
    </cdr:from>
    <cdr:to>
      <cdr:x>0.32106</cdr:x>
      <cdr:y>0.2715</cdr:y>
    </cdr:to>
    <cdr:sp macro="" textlink="">
      <cdr:nvSpPr>
        <cdr:cNvPr id="6" name="Text Box 4">
          <a:extLst xmlns:a="http://schemas.openxmlformats.org/drawingml/2006/main">
            <a:ext uri="{FF2B5EF4-FFF2-40B4-BE49-F238E27FC236}">
              <a16:creationId xmlns:a16="http://schemas.microsoft.com/office/drawing/2014/main" id="{17DDDEF5-437F-4A76-BEFD-367F6380E7B5}"/>
            </a:ext>
          </a:extLst>
        </cdr:cNvPr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898021" y="554917"/>
          <a:ext cx="687559" cy="18452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lIns="45720" tIns="50292" rIns="0" bIns="0" anchor="t" upright="1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 rtl="0">
            <a:lnSpc>
              <a:spcPts val="1200"/>
            </a:lnSpc>
            <a:defRPr sz="1000"/>
          </a:pPr>
          <a:r>
            <a:rPr lang="en-AU" sz="1000" b="1" i="0" u="none" strike="noStrike" baseline="0" dirty="0">
              <a:solidFill>
                <a:srgbClr val="0D3512">
                  <a:alpha val="85000"/>
                </a:srgbClr>
              </a:solidFill>
              <a:latin typeface="Aptos Narrow"/>
            </a:rPr>
            <a:t>Very High </a:t>
          </a:r>
        </a:p>
      </cdr:txBody>
    </cdr:sp>
  </cdr:relSizeAnchor>
  <cdr:relSizeAnchor xmlns:cdr="http://schemas.openxmlformats.org/drawingml/2006/chartDrawing">
    <cdr:from>
      <cdr:x>0.18758</cdr:x>
      <cdr:y>0.74344</cdr:y>
    </cdr:from>
    <cdr:to>
      <cdr:x>0.25313</cdr:x>
      <cdr:y>0.83812</cdr:y>
    </cdr:to>
    <cdr:sp macro="" textlink="">
      <cdr:nvSpPr>
        <cdr:cNvPr id="7" name="Text Box 4">
          <a:extLst xmlns:a="http://schemas.openxmlformats.org/drawingml/2006/main">
            <a:ext uri="{FF2B5EF4-FFF2-40B4-BE49-F238E27FC236}">
              <a16:creationId xmlns:a16="http://schemas.microsoft.com/office/drawing/2014/main" id="{17DDDEF5-437F-4A76-BEFD-367F6380E7B5}"/>
            </a:ext>
          </a:extLst>
        </cdr:cNvPr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926412" y="2024794"/>
          <a:ext cx="323714" cy="257866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lIns="45720" tIns="50292" rIns="0" bIns="0" anchor="t" upright="1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 rtl="0">
            <a:lnSpc>
              <a:spcPts val="1200"/>
            </a:lnSpc>
            <a:defRPr sz="1000"/>
          </a:pPr>
          <a:r>
            <a:rPr lang="en-AU" sz="1000" b="1" i="0" u="none" strike="noStrike" baseline="0" dirty="0">
              <a:solidFill>
                <a:srgbClr val="0D3512">
                  <a:alpha val="25000"/>
                </a:srgbClr>
              </a:solidFill>
              <a:latin typeface="Aptos Narrow"/>
            </a:rPr>
            <a:t>Low</a:t>
          </a:r>
          <a:r>
            <a:rPr lang="en-AU" sz="1000" b="0" i="0" u="none" strike="noStrike" baseline="0" dirty="0">
              <a:solidFill>
                <a:srgbClr val="0D3512">
                  <a:alpha val="25000"/>
                </a:srgbClr>
              </a:solidFill>
              <a:latin typeface="Aptos Narrow"/>
            </a:rPr>
            <a:t> </a:t>
          </a:r>
        </a:p>
      </cdr:txBody>
    </cdr:sp>
  </cdr:relSizeAnchor>
  <cdr:relSizeAnchor xmlns:cdr="http://schemas.openxmlformats.org/drawingml/2006/chartDrawing">
    <cdr:from>
      <cdr:x>0.31774</cdr:x>
      <cdr:y>0.88318</cdr:y>
    </cdr:from>
    <cdr:to>
      <cdr:x>1</cdr:x>
      <cdr:y>0.96686</cdr:y>
    </cdr:to>
    <cdr:sp macro="" textlink="">
      <cdr:nvSpPr>
        <cdr:cNvPr id="2" name="Text Box 4">
          <a:extLst xmlns:a="http://schemas.openxmlformats.org/drawingml/2006/main">
            <a:ext uri="{FF2B5EF4-FFF2-40B4-BE49-F238E27FC236}">
              <a16:creationId xmlns:a16="http://schemas.microsoft.com/office/drawing/2014/main" id="{CC7FD387-3F60-48E4-8A10-903A297B5476}"/>
            </a:ext>
          </a:extLst>
        </cdr:cNvPr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1569214" y="2405387"/>
          <a:ext cx="3369437" cy="227906"/>
        </a:xfrm>
        <a:prstGeom xmlns:a="http://schemas.openxmlformats.org/drawingml/2006/main" prst="rect">
          <a:avLst/>
        </a:prstGeom>
        <a:solidFill xmlns:a="http://schemas.openxmlformats.org/drawingml/2006/main">
          <a:srgbClr val="0D3512">
            <a:alpha val="0"/>
          </a:srgbClr>
        </a:solidFill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lIns="45720" tIns="50292" rIns="0" bIns="0" anchor="t" upright="1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l" defTabSz="914400" rtl="0" eaLnBrk="1" fontAlgn="auto" latinLnBrk="0" hangingPunct="1">
            <a:lnSpc>
              <a:spcPts val="12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000"/>
          </a:pPr>
          <a:r>
            <a:rPr kumimoji="0" lang="en-AU" sz="1050" b="1" i="0" u="none" strike="noStrike" kern="0" cap="none" spc="0" normalizeH="0" baseline="0" noProof="0" dirty="0">
              <a:ln>
                <a:noFill/>
              </a:ln>
              <a:solidFill>
                <a:srgbClr val="0D3512">
                  <a:alpha val="26000"/>
                </a:srgbClr>
              </a:solidFill>
              <a:effectLst/>
              <a:uLnTx/>
              <a:uFillTx/>
              <a:latin typeface="Aptos Narrow"/>
            </a:rPr>
            <a:t>0 </a:t>
          </a:r>
          <a:r>
            <a:rPr kumimoji="0" lang="en-AU" sz="1050" b="0" i="0" u="none" strike="noStrike" kern="0" cap="none" spc="0" normalizeH="0" baseline="0" noProof="0" dirty="0">
              <a:ln>
                <a:noFill/>
              </a:ln>
              <a:solidFill>
                <a:srgbClr val="0D3512">
                  <a:alpha val="26000"/>
                </a:srgbClr>
              </a:solidFill>
              <a:effectLst/>
              <a:uLnTx/>
              <a:uFillTx/>
              <a:latin typeface="Aptos Narrow"/>
            </a:rPr>
            <a:t>	                       </a:t>
          </a:r>
          <a:r>
            <a:rPr kumimoji="0" lang="en-AU" sz="1050" b="1" i="0" u="none" strike="noStrike" kern="0" cap="none" spc="0" normalizeH="0" baseline="0" noProof="0" dirty="0">
              <a:ln>
                <a:noFill/>
              </a:ln>
              <a:solidFill>
                <a:srgbClr val="0D3512">
                  <a:alpha val="26000"/>
                </a:srgbClr>
              </a:solidFill>
              <a:effectLst/>
              <a:uLnTx/>
              <a:uFillTx/>
              <a:latin typeface="Aptos Narrow"/>
            </a:rPr>
            <a:t>250 </a:t>
          </a:r>
          <a:r>
            <a:rPr kumimoji="0" lang="en-AU" sz="1050" b="0" i="0" u="none" strike="noStrike" kern="0" cap="none" spc="0" normalizeH="0" baseline="0" noProof="0" dirty="0">
              <a:ln>
                <a:noFill/>
              </a:ln>
              <a:solidFill>
                <a:srgbClr val="0D3512">
                  <a:alpha val="26000"/>
                </a:srgbClr>
              </a:solidFill>
              <a:effectLst/>
              <a:uLnTx/>
              <a:uFillTx/>
              <a:latin typeface="Aptos Narrow"/>
            </a:rPr>
            <a:t>                  	       </a:t>
          </a:r>
          <a:r>
            <a:rPr kumimoji="0" lang="en-AU" sz="1050" b="1" i="0" u="none" strike="noStrike" kern="0" cap="none" spc="0" normalizeH="0" baseline="0" noProof="0" dirty="0">
              <a:ln>
                <a:noFill/>
              </a:ln>
              <a:solidFill>
                <a:srgbClr val="0D3512">
                  <a:alpha val="26000"/>
                </a:srgbClr>
              </a:solidFill>
              <a:effectLst/>
              <a:uLnTx/>
              <a:uFillTx/>
              <a:latin typeface="Aptos Narrow"/>
            </a:rPr>
            <a:t>500</a:t>
          </a:r>
          <a:r>
            <a:rPr kumimoji="0" lang="en-AU" sz="1050" b="0" i="0" u="none" strike="noStrike" kern="0" cap="none" spc="0" normalizeH="0" baseline="0" noProof="0" dirty="0">
              <a:ln>
                <a:noFill/>
              </a:ln>
              <a:solidFill>
                <a:srgbClr val="0D3512">
                  <a:alpha val="26000"/>
                </a:srgbClr>
              </a:solidFill>
              <a:effectLst/>
              <a:uLnTx/>
              <a:uFillTx/>
              <a:latin typeface="Aptos Narrow"/>
            </a:rPr>
            <a:t>                       </a:t>
          </a:r>
        </a:p>
      </cdr:txBody>
    </cdr:sp>
  </cdr:relSizeAnchor>
  <cdr:relSizeAnchor xmlns:cdr="http://schemas.openxmlformats.org/drawingml/2006/chartDrawing">
    <cdr:from>
      <cdr:x>0.18232</cdr:x>
      <cdr:y>0.55816</cdr:y>
    </cdr:from>
    <cdr:to>
      <cdr:x>0.30213</cdr:x>
      <cdr:y>0.6322</cdr:y>
    </cdr:to>
    <cdr:sp macro="" textlink="">
      <cdr:nvSpPr>
        <cdr:cNvPr id="4" name="Text Box 4">
          <a:extLst xmlns:a="http://schemas.openxmlformats.org/drawingml/2006/main">
            <a:ext uri="{FF2B5EF4-FFF2-40B4-BE49-F238E27FC236}">
              <a16:creationId xmlns:a16="http://schemas.microsoft.com/office/drawing/2014/main" id="{218B9E0E-05B9-44FB-B91E-3A7CC197E9DB}"/>
            </a:ext>
          </a:extLst>
        </cdr:cNvPr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900430" y="1520190"/>
          <a:ext cx="591705" cy="201641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lIns="45720" tIns="50292" rIns="0" bIns="0" anchor="t" upright="1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 rtl="0">
            <a:lnSpc>
              <a:spcPts val="1200"/>
            </a:lnSpc>
            <a:defRPr sz="1000"/>
          </a:pPr>
          <a:r>
            <a:rPr lang="en-AU" sz="1100" b="1" i="0" u="none" strike="noStrike" baseline="0" dirty="0">
              <a:solidFill>
                <a:srgbClr val="0D3512">
                  <a:alpha val="31000"/>
                </a:srgbClr>
              </a:solidFill>
              <a:latin typeface="Aptos Narrow"/>
            </a:rPr>
            <a:t>Medium</a:t>
          </a:r>
          <a:r>
            <a:rPr lang="en-AU" sz="1100" b="0" i="0" u="none" strike="noStrike" baseline="0" dirty="0">
              <a:solidFill>
                <a:srgbClr val="0D3512">
                  <a:alpha val="31000"/>
                </a:srgbClr>
              </a:solidFill>
              <a:latin typeface="Aptos Narrow"/>
            </a:rPr>
            <a:t> </a:t>
          </a:r>
        </a:p>
      </cdr:txBody>
    </cdr:sp>
  </cdr:relSizeAnchor>
  <cdr:relSizeAnchor xmlns:cdr="http://schemas.openxmlformats.org/drawingml/2006/chartDrawing">
    <cdr:from>
      <cdr:x>0.57397</cdr:x>
      <cdr:y>0.24538</cdr:y>
    </cdr:from>
    <cdr:to>
      <cdr:x>0.81727</cdr:x>
      <cdr:y>0.46922</cdr:y>
    </cdr:to>
    <cdr:pic>
      <cdr:nvPicPr>
        <cdr:cNvPr id="10" name="chart">
          <a:extLst xmlns:a="http://schemas.openxmlformats.org/drawingml/2006/main">
            <a:ext uri="{FF2B5EF4-FFF2-40B4-BE49-F238E27FC236}">
              <a16:creationId xmlns:a16="http://schemas.microsoft.com/office/drawing/2014/main" id="{B4D7497B-1398-2B74-2831-6A4D921F8EB8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2834637" y="668305"/>
          <a:ext cx="1201551" cy="609640"/>
        </a:xfrm>
        <a:prstGeom xmlns:a="http://schemas.openxmlformats.org/drawingml/2006/main" prst="rect">
          <a:avLst/>
        </a:prstGeom>
      </cdr:spPr>
    </cdr:pic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0.12155</cdr:x>
      <cdr:y>0.70883</cdr:y>
    </cdr:from>
    <cdr:to>
      <cdr:x>0.21827</cdr:x>
      <cdr:y>0.81554</cdr:y>
    </cdr:to>
    <cdr:sp macro="" textlink="">
      <cdr:nvSpPr>
        <cdr:cNvPr id="3" name="Text Box 4">
          <a:extLst xmlns:a="http://schemas.openxmlformats.org/drawingml/2006/main">
            <a:ext uri="{FF2B5EF4-FFF2-40B4-BE49-F238E27FC236}">
              <a16:creationId xmlns:a16="http://schemas.microsoft.com/office/drawing/2014/main" id="{F4C319F6-137E-4FD5-B8A9-0B928CD9BF95}"/>
            </a:ext>
          </a:extLst>
        </cdr:cNvPr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567493" y="1762991"/>
          <a:ext cx="451568" cy="265406"/>
        </a:xfrm>
        <a:prstGeom xmlns:a="http://schemas.openxmlformats.org/drawingml/2006/main" prst="rect">
          <a:avLst/>
        </a:prstGeom>
        <a:solidFill xmlns:a="http://schemas.openxmlformats.org/drawingml/2006/main">
          <a:srgbClr val="0D3512">
            <a:alpha val="0"/>
          </a:srgbClr>
        </a:solidFill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lIns="45720" tIns="50292" rIns="0" bIns="0" anchor="t" upright="1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 rtl="0">
            <a:lnSpc>
              <a:spcPts val="1200"/>
            </a:lnSpc>
            <a:defRPr sz="1000"/>
          </a:pPr>
          <a:r>
            <a:rPr lang="en-AU" sz="900" b="1" baseline="0" dirty="0">
              <a:solidFill>
                <a:srgbClr val="0D3512">
                  <a:alpha val="85000"/>
                </a:srgbClr>
              </a:solidFill>
              <a:effectLst/>
            </a:rPr>
            <a:t>Low</a:t>
          </a:r>
          <a:r>
            <a:rPr lang="en-AU" sz="1100" baseline="0" dirty="0">
              <a:solidFill>
                <a:srgbClr val="0D3512">
                  <a:alpha val="85000"/>
                </a:srgbClr>
              </a:solidFill>
              <a:effectLst/>
            </a:rPr>
            <a:t> </a:t>
          </a:r>
        </a:p>
        <a:p xmlns:a="http://schemas.openxmlformats.org/drawingml/2006/main">
          <a:pPr algn="l" rtl="0">
            <a:lnSpc>
              <a:spcPts val="1200"/>
            </a:lnSpc>
            <a:defRPr sz="1000"/>
          </a:pPr>
          <a:endParaRPr lang="en-AU" sz="1100" b="0" i="0" u="none" strike="noStrike" baseline="0" dirty="0">
            <a:solidFill>
              <a:srgbClr val="0D3512">
                <a:alpha val="85000"/>
              </a:srgbClr>
            </a:solidFill>
            <a:latin typeface="Aptos Narrow"/>
          </a:endParaRPr>
        </a:p>
      </cdr:txBody>
    </cdr:sp>
  </cdr:relSizeAnchor>
  <cdr:relSizeAnchor xmlns:cdr="http://schemas.openxmlformats.org/drawingml/2006/chartDrawing">
    <cdr:from>
      <cdr:x>0.11418</cdr:x>
      <cdr:y>0.55344</cdr:y>
    </cdr:from>
    <cdr:to>
      <cdr:x>0.21882</cdr:x>
      <cdr:y>0.61147</cdr:y>
    </cdr:to>
    <cdr:sp macro="" textlink="">
      <cdr:nvSpPr>
        <cdr:cNvPr id="4" name="Text Box 4">
          <a:extLst xmlns:a="http://schemas.openxmlformats.org/drawingml/2006/main">
            <a:ext uri="{FF2B5EF4-FFF2-40B4-BE49-F238E27FC236}">
              <a16:creationId xmlns:a16="http://schemas.microsoft.com/office/drawing/2014/main" id="{33405A77-953C-4426-8883-39EDDC32F879}"/>
            </a:ext>
          </a:extLst>
        </cdr:cNvPr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533083" y="1376498"/>
          <a:ext cx="488545" cy="144330"/>
        </a:xfrm>
        <a:prstGeom xmlns:a="http://schemas.openxmlformats.org/drawingml/2006/main" prst="rect">
          <a:avLst/>
        </a:prstGeom>
        <a:solidFill xmlns:a="http://schemas.openxmlformats.org/drawingml/2006/main">
          <a:srgbClr val="0D3512">
            <a:alpha val="0"/>
          </a:srgbClr>
        </a:solidFill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lIns="45720" tIns="50292" rIns="0" bIns="0" anchor="t" upright="1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 rtl="0">
            <a:lnSpc>
              <a:spcPts val="1200"/>
            </a:lnSpc>
            <a:defRPr sz="1000"/>
          </a:pPr>
          <a:r>
            <a:rPr lang="en-AU" sz="900" b="1" i="0" u="none" strike="noStrike" baseline="0" dirty="0">
              <a:solidFill>
                <a:srgbClr val="0D3512">
                  <a:alpha val="63000"/>
                </a:srgbClr>
              </a:solidFill>
              <a:effectLst/>
            </a:rPr>
            <a:t>Medium</a:t>
          </a:r>
          <a:endParaRPr lang="en-AU" sz="900" b="1" i="0" u="none" strike="noStrike" baseline="0" dirty="0">
            <a:solidFill>
              <a:srgbClr val="0D3512">
                <a:alpha val="63000"/>
              </a:srgbClr>
            </a:solidFill>
            <a:latin typeface="Aptos Narrow"/>
          </a:endParaRPr>
        </a:p>
      </cdr:txBody>
    </cdr:sp>
  </cdr:relSizeAnchor>
  <cdr:relSizeAnchor xmlns:cdr="http://schemas.openxmlformats.org/drawingml/2006/chartDrawing">
    <cdr:from>
      <cdr:x>0.11184</cdr:x>
      <cdr:y>0.39021</cdr:y>
    </cdr:from>
    <cdr:to>
      <cdr:x>0.18012</cdr:x>
      <cdr:y>0.48419</cdr:y>
    </cdr:to>
    <cdr:sp macro="" textlink="">
      <cdr:nvSpPr>
        <cdr:cNvPr id="5" name="Text Box 4">
          <a:extLst xmlns:a="http://schemas.openxmlformats.org/drawingml/2006/main">
            <a:ext uri="{FF2B5EF4-FFF2-40B4-BE49-F238E27FC236}">
              <a16:creationId xmlns:a16="http://schemas.microsoft.com/office/drawing/2014/main" id="{76EB6E71-9F89-4875-8C9C-C97FC6381ABA}"/>
            </a:ext>
          </a:extLst>
        </cdr:cNvPr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522154" y="970514"/>
          <a:ext cx="318787" cy="233744"/>
        </a:xfrm>
        <a:prstGeom xmlns:a="http://schemas.openxmlformats.org/drawingml/2006/main" prst="rect">
          <a:avLst/>
        </a:prstGeom>
        <a:solidFill xmlns:a="http://schemas.openxmlformats.org/drawingml/2006/main">
          <a:srgbClr val="0D3512">
            <a:alpha val="0"/>
          </a:srgbClr>
        </a:solidFill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lIns="45720" tIns="50292" rIns="0" bIns="0" anchor="t" upright="1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 rtl="0">
            <a:lnSpc>
              <a:spcPts val="1200"/>
            </a:lnSpc>
            <a:defRPr sz="1000"/>
          </a:pPr>
          <a:r>
            <a:rPr lang="en-AU" sz="900" b="1" i="0" u="none" strike="noStrike" baseline="0" dirty="0">
              <a:solidFill>
                <a:srgbClr val="0D3512">
                  <a:alpha val="31000"/>
                </a:srgbClr>
              </a:solidFill>
              <a:latin typeface="Aptos Narrow"/>
            </a:rPr>
            <a:t>High</a:t>
          </a:r>
        </a:p>
      </cdr:txBody>
    </cdr:sp>
  </cdr:relSizeAnchor>
  <cdr:relSizeAnchor xmlns:cdr="http://schemas.openxmlformats.org/drawingml/2006/chartDrawing">
    <cdr:from>
      <cdr:x>0.10807</cdr:x>
      <cdr:y>0.20344</cdr:y>
    </cdr:from>
    <cdr:to>
      <cdr:x>0.23505</cdr:x>
      <cdr:y>0.27597</cdr:y>
    </cdr:to>
    <cdr:sp macro="" textlink="">
      <cdr:nvSpPr>
        <cdr:cNvPr id="6" name="Text Box 4">
          <a:extLst xmlns:a="http://schemas.openxmlformats.org/drawingml/2006/main">
            <a:ext uri="{FF2B5EF4-FFF2-40B4-BE49-F238E27FC236}">
              <a16:creationId xmlns:a16="http://schemas.microsoft.com/office/drawing/2014/main" id="{DC71E33E-16E5-498E-9155-F1A5C00A8EC2}"/>
            </a:ext>
          </a:extLst>
        </cdr:cNvPr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504576" y="505981"/>
          <a:ext cx="592817" cy="180391"/>
        </a:xfrm>
        <a:prstGeom xmlns:a="http://schemas.openxmlformats.org/drawingml/2006/main" prst="rect">
          <a:avLst/>
        </a:prstGeom>
        <a:solidFill xmlns:a="http://schemas.openxmlformats.org/drawingml/2006/main">
          <a:srgbClr val="0D3512">
            <a:alpha val="0"/>
          </a:srgbClr>
        </a:solidFill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lIns="45720" tIns="50292" rIns="0" bIns="0" anchor="t" upright="1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 rtl="0">
            <a:lnSpc>
              <a:spcPts val="1200"/>
            </a:lnSpc>
            <a:defRPr sz="1000"/>
          </a:pPr>
          <a:r>
            <a:rPr lang="en-AU" sz="900" b="1" i="0" u="none" strike="noStrike" baseline="0" dirty="0">
              <a:solidFill>
                <a:srgbClr val="0D3512">
                  <a:alpha val="14000"/>
                </a:srgbClr>
              </a:solidFill>
              <a:effectLst/>
            </a:rPr>
            <a:t>Very High</a:t>
          </a:r>
          <a:endParaRPr lang="en-AU" sz="900" b="1" i="0" u="none" strike="noStrike" baseline="0" dirty="0">
            <a:solidFill>
              <a:srgbClr val="0D3512">
                <a:alpha val="14000"/>
              </a:srgbClr>
            </a:solidFill>
            <a:latin typeface="Aptos Narrow"/>
          </a:endParaRPr>
        </a:p>
      </cdr:txBody>
    </cdr:sp>
  </cdr:relSizeAnchor>
  <cdr:relSizeAnchor xmlns:cdr="http://schemas.openxmlformats.org/drawingml/2006/chartDrawing">
    <cdr:from>
      <cdr:x>0.13156</cdr:x>
      <cdr:y>0.82542</cdr:y>
    </cdr:from>
    <cdr:to>
      <cdr:x>0.97937</cdr:x>
      <cdr:y>0.92678</cdr:y>
    </cdr:to>
    <cdr:sp macro="" textlink="">
      <cdr:nvSpPr>
        <cdr:cNvPr id="7" name="Text Box 4">
          <a:extLst xmlns:a="http://schemas.openxmlformats.org/drawingml/2006/main">
            <a:ext uri="{FF2B5EF4-FFF2-40B4-BE49-F238E27FC236}">
              <a16:creationId xmlns:a16="http://schemas.microsoft.com/office/drawing/2014/main" id="{95F93CFB-764B-42F1-B48C-FC3E0A136506}"/>
            </a:ext>
          </a:extLst>
        </cdr:cNvPr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595627" y="2052954"/>
          <a:ext cx="3838460" cy="252099"/>
        </a:xfrm>
        <a:prstGeom xmlns:a="http://schemas.openxmlformats.org/drawingml/2006/main" prst="rect">
          <a:avLst/>
        </a:prstGeom>
        <a:solidFill xmlns:a="http://schemas.openxmlformats.org/drawingml/2006/main">
          <a:srgbClr val="0D3512">
            <a:alpha val="0"/>
          </a:srgbClr>
        </a:solidFill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lIns="45720" tIns="50292" rIns="0" bIns="0" anchor="t" upright="1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l" defTabSz="914400" rtl="0" eaLnBrk="1" fontAlgn="auto" latinLnBrk="0" hangingPunct="1">
            <a:lnSpc>
              <a:spcPts val="12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000"/>
          </a:pPr>
          <a:r>
            <a:rPr kumimoji="0" lang="en-AU" sz="900" b="1" i="0" u="none" strike="noStrike" kern="0" cap="none" spc="0" normalizeH="0" baseline="0" noProof="0" dirty="0">
              <a:ln>
                <a:noFill/>
              </a:ln>
              <a:solidFill>
                <a:srgbClr val="0D3512">
                  <a:alpha val="26000"/>
                </a:srgbClr>
              </a:solidFill>
              <a:effectLst/>
              <a:uLnTx/>
              <a:uFillTx/>
              <a:latin typeface="Aptos Narrow"/>
            </a:rPr>
            <a:t>0 </a:t>
          </a:r>
          <a:r>
            <a:rPr kumimoji="0" lang="en-AU" sz="900" b="0" i="0" u="none" strike="noStrike" kern="0" cap="none" spc="0" normalizeH="0" baseline="0" noProof="0" dirty="0">
              <a:ln>
                <a:noFill/>
              </a:ln>
              <a:solidFill>
                <a:srgbClr val="0D3512">
                  <a:alpha val="26000"/>
                </a:srgbClr>
              </a:solidFill>
              <a:effectLst/>
              <a:uLnTx/>
              <a:uFillTx/>
              <a:latin typeface="Aptos Narrow"/>
            </a:rPr>
            <a:t>	    	</a:t>
          </a:r>
          <a:r>
            <a:rPr kumimoji="0" lang="en-AU" sz="900" b="1" i="0" u="none" strike="noStrike" kern="0" cap="none" spc="0" normalizeH="0" baseline="0" noProof="0" dirty="0">
              <a:ln>
                <a:noFill/>
              </a:ln>
              <a:solidFill>
                <a:srgbClr val="0D3512">
                  <a:alpha val="26000"/>
                </a:srgbClr>
              </a:solidFill>
              <a:effectLst/>
              <a:uLnTx/>
              <a:uFillTx/>
              <a:latin typeface="Aptos Narrow"/>
            </a:rPr>
            <a:t>100</a:t>
          </a:r>
          <a:r>
            <a:rPr kumimoji="0" lang="en-AU" sz="900" b="0" i="0" u="none" strike="noStrike" kern="0" cap="none" spc="0" normalizeH="0" baseline="0" noProof="0" dirty="0">
              <a:ln>
                <a:noFill/>
              </a:ln>
              <a:solidFill>
                <a:srgbClr val="0D3512">
                  <a:alpha val="26000"/>
                </a:srgbClr>
              </a:solidFill>
              <a:effectLst/>
              <a:uLnTx/>
              <a:uFillTx/>
              <a:latin typeface="Aptos Narrow"/>
            </a:rPr>
            <a:t>                                                                            </a:t>
          </a:r>
          <a:r>
            <a:rPr kumimoji="0" lang="en-AU" sz="900" b="1" i="0" u="none" strike="noStrike" kern="0" cap="none" spc="0" normalizeH="0" baseline="0" noProof="0" dirty="0">
              <a:ln>
                <a:noFill/>
              </a:ln>
              <a:solidFill>
                <a:srgbClr val="0D3512">
                  <a:alpha val="26000"/>
                </a:srgbClr>
              </a:solidFill>
              <a:effectLst/>
              <a:uLnTx/>
              <a:uFillTx/>
              <a:latin typeface="Aptos Narrow"/>
            </a:rPr>
            <a:t>200</a:t>
          </a:r>
        </a:p>
      </cdr:txBody>
    </cdr:sp>
  </cdr:relSizeAnchor>
  <cdr:relSizeAnchor xmlns:cdr="http://schemas.openxmlformats.org/drawingml/2006/chartDrawing">
    <cdr:from>
      <cdr:x>0.63278</cdr:x>
      <cdr:y>0.64042</cdr:y>
    </cdr:from>
    <cdr:to>
      <cdr:x>0.86733</cdr:x>
      <cdr:y>0.82424</cdr:y>
    </cdr:to>
    <cdr:pic>
      <cdr:nvPicPr>
        <cdr:cNvPr id="10" name="chart">
          <a:extLst xmlns:a="http://schemas.openxmlformats.org/drawingml/2006/main">
            <a:ext uri="{FF2B5EF4-FFF2-40B4-BE49-F238E27FC236}">
              <a16:creationId xmlns:a16="http://schemas.microsoft.com/office/drawing/2014/main" id="{D8647B7D-C948-D5F9-39C7-8B0DA4E0D8CD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2954314" y="1592834"/>
          <a:ext cx="1095110" cy="457192"/>
        </a:xfrm>
        <a:prstGeom xmlns:a="http://schemas.openxmlformats.org/drawingml/2006/main" prst="rect">
          <a:avLst/>
        </a:prstGeom>
      </cdr:spPr>
    </cdr:pic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0.27945</cdr:x>
      <cdr:y>0.17692</cdr:y>
    </cdr:from>
    <cdr:to>
      <cdr:x>0.43076</cdr:x>
      <cdr:y>0.24249</cdr:y>
    </cdr:to>
    <cdr:sp macro="" textlink="">
      <cdr:nvSpPr>
        <cdr:cNvPr id="3" name="Text Box 4">
          <a:extLst xmlns:a="http://schemas.openxmlformats.org/drawingml/2006/main">
            <a:ext uri="{FF2B5EF4-FFF2-40B4-BE49-F238E27FC236}">
              <a16:creationId xmlns:a16="http://schemas.microsoft.com/office/drawing/2014/main" id="{DA49C16F-F3DC-BAB8-F128-23000CF0481A}"/>
            </a:ext>
          </a:extLst>
        </cdr:cNvPr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1277639" y="507995"/>
          <a:ext cx="691795" cy="18827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lIns="45720" tIns="50292" rIns="0" bIns="0" anchor="t" upright="1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 rtl="0">
            <a:lnSpc>
              <a:spcPts val="1200"/>
            </a:lnSpc>
            <a:defRPr sz="1000"/>
          </a:pPr>
          <a:r>
            <a:rPr lang="en-AU" sz="900" b="1" i="0" u="none" strike="noStrike" baseline="0" dirty="0">
              <a:solidFill>
                <a:srgbClr val="0D3512">
                  <a:alpha val="14000"/>
                </a:srgbClr>
              </a:solidFill>
              <a:latin typeface="Aptos Narrow"/>
            </a:rPr>
            <a:t>High</a:t>
          </a:r>
          <a:r>
            <a:rPr lang="en-AU" sz="900" b="0" i="0" u="none" strike="noStrike" baseline="0" dirty="0">
              <a:solidFill>
                <a:srgbClr val="0D3512">
                  <a:alpha val="14000"/>
                </a:srgbClr>
              </a:solidFill>
              <a:latin typeface="Aptos Narrow"/>
            </a:rPr>
            <a:t> </a:t>
          </a:r>
        </a:p>
      </cdr:txBody>
    </cdr:sp>
  </cdr:relSizeAnchor>
  <cdr:relSizeAnchor xmlns:cdr="http://schemas.openxmlformats.org/drawingml/2006/chartDrawing">
    <cdr:from>
      <cdr:x>0.24715</cdr:x>
      <cdr:y>0.37513</cdr:y>
    </cdr:from>
    <cdr:to>
      <cdr:x>0.39847</cdr:x>
      <cdr:y>0.44203</cdr:y>
    </cdr:to>
    <cdr:sp macro="" textlink="">
      <cdr:nvSpPr>
        <cdr:cNvPr id="4" name="Text Box 4">
          <a:extLst xmlns:a="http://schemas.openxmlformats.org/drawingml/2006/main">
            <a:ext uri="{FF2B5EF4-FFF2-40B4-BE49-F238E27FC236}">
              <a16:creationId xmlns:a16="http://schemas.microsoft.com/office/drawing/2014/main" id="{DA49C16F-F3DC-BAB8-F128-23000CF0481A}"/>
            </a:ext>
          </a:extLst>
        </cdr:cNvPr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1129970" y="1077105"/>
          <a:ext cx="691841" cy="192089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lIns="45720" tIns="50292" rIns="0" bIns="0" anchor="t" upright="1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 rtl="0">
            <a:lnSpc>
              <a:spcPts val="1200"/>
            </a:lnSpc>
            <a:defRPr sz="1000"/>
          </a:pPr>
          <a:r>
            <a:rPr lang="en-AU" sz="900" b="1" i="0" u="none" strike="noStrike" baseline="0" dirty="0">
              <a:solidFill>
                <a:srgbClr val="0D3512">
                  <a:alpha val="31000"/>
                </a:srgbClr>
              </a:solidFill>
              <a:latin typeface="Aptos Narrow"/>
            </a:rPr>
            <a:t>Medium</a:t>
          </a:r>
        </a:p>
      </cdr:txBody>
    </cdr:sp>
  </cdr:relSizeAnchor>
  <cdr:relSizeAnchor xmlns:cdr="http://schemas.openxmlformats.org/drawingml/2006/chartDrawing">
    <cdr:from>
      <cdr:x>0.28111</cdr:x>
      <cdr:y>0.55211</cdr:y>
    </cdr:from>
    <cdr:to>
      <cdr:x>0.48269</cdr:x>
      <cdr:y>0.61774</cdr:y>
    </cdr:to>
    <cdr:sp macro="" textlink="">
      <cdr:nvSpPr>
        <cdr:cNvPr id="5" name="Text Box 4">
          <a:extLst xmlns:a="http://schemas.openxmlformats.org/drawingml/2006/main">
            <a:ext uri="{FF2B5EF4-FFF2-40B4-BE49-F238E27FC236}">
              <a16:creationId xmlns:a16="http://schemas.microsoft.com/office/drawing/2014/main" id="{DA49C16F-F3DC-BAB8-F128-23000CF0481A}"/>
            </a:ext>
          </a:extLst>
        </cdr:cNvPr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1285244" y="1585266"/>
          <a:ext cx="921631" cy="188442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lIns="45720" tIns="50292" rIns="0" bIns="0" anchor="t" upright="1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 rtl="0">
            <a:lnSpc>
              <a:spcPts val="1200"/>
            </a:lnSpc>
            <a:defRPr sz="1000"/>
          </a:pPr>
          <a:r>
            <a:rPr lang="en-AU" sz="900" b="1" i="0" u="none" strike="noStrike" baseline="0" dirty="0">
              <a:solidFill>
                <a:srgbClr val="0D3512">
                  <a:alpha val="63000"/>
                </a:srgbClr>
              </a:solidFill>
              <a:latin typeface="Aptos Narrow"/>
            </a:rPr>
            <a:t>Low</a:t>
          </a:r>
          <a:r>
            <a:rPr lang="en-AU" sz="1100" b="0" i="0" u="none" strike="noStrike" baseline="0" dirty="0">
              <a:solidFill>
                <a:srgbClr val="0D3512">
                  <a:alpha val="63000"/>
                </a:srgbClr>
              </a:solidFill>
              <a:latin typeface="Aptos Narrow"/>
            </a:rPr>
            <a:t> </a:t>
          </a:r>
        </a:p>
      </cdr:txBody>
    </cdr:sp>
  </cdr:relSizeAnchor>
  <cdr:relSizeAnchor xmlns:cdr="http://schemas.openxmlformats.org/drawingml/2006/chartDrawing">
    <cdr:from>
      <cdr:x>0.23611</cdr:x>
      <cdr:y>0.75547</cdr:y>
    </cdr:from>
    <cdr:to>
      <cdr:x>0.38784</cdr:x>
      <cdr:y>0.8217</cdr:y>
    </cdr:to>
    <cdr:sp macro="" textlink="">
      <cdr:nvSpPr>
        <cdr:cNvPr id="6" name="Text Box 4">
          <a:extLst xmlns:a="http://schemas.openxmlformats.org/drawingml/2006/main">
            <a:ext uri="{FF2B5EF4-FFF2-40B4-BE49-F238E27FC236}">
              <a16:creationId xmlns:a16="http://schemas.microsoft.com/office/drawing/2014/main" id="{DA49C16F-F3DC-BAB8-F128-23000CF0481A}"/>
            </a:ext>
          </a:extLst>
        </cdr:cNvPr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1079504" y="2169154"/>
          <a:ext cx="693716" cy="190164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lIns="45720" tIns="50292" rIns="0" bIns="0" anchor="t" upright="1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 rtl="0">
            <a:lnSpc>
              <a:spcPts val="1200"/>
            </a:lnSpc>
            <a:defRPr sz="1000"/>
          </a:pPr>
          <a:r>
            <a:rPr lang="en-AU" sz="900" b="1" i="0" u="none" strike="noStrike" baseline="0" dirty="0">
              <a:solidFill>
                <a:srgbClr val="0D3512">
                  <a:alpha val="85000"/>
                </a:srgbClr>
              </a:solidFill>
              <a:latin typeface="Aptos Narrow"/>
            </a:rPr>
            <a:t>Very</a:t>
          </a:r>
          <a:r>
            <a:rPr lang="en-AU" sz="900" b="0" i="0" u="none" strike="noStrike" baseline="0" dirty="0">
              <a:solidFill>
                <a:srgbClr val="0D3512">
                  <a:alpha val="85000"/>
                </a:srgbClr>
              </a:solidFill>
              <a:latin typeface="Aptos Narrow"/>
            </a:rPr>
            <a:t> </a:t>
          </a:r>
          <a:r>
            <a:rPr lang="en-AU" sz="900" b="1" i="0" u="none" strike="noStrike" baseline="0" dirty="0">
              <a:solidFill>
                <a:srgbClr val="0D3512">
                  <a:alpha val="85000"/>
                </a:srgbClr>
              </a:solidFill>
              <a:latin typeface="Aptos Narrow"/>
            </a:rPr>
            <a:t>Low</a:t>
          </a:r>
          <a:r>
            <a:rPr lang="en-AU" sz="900" b="0" i="0" u="none" strike="noStrike" baseline="0" dirty="0">
              <a:solidFill>
                <a:srgbClr val="0D3512">
                  <a:alpha val="85000"/>
                </a:srgbClr>
              </a:solidFill>
              <a:latin typeface="Aptos Narrow"/>
            </a:rPr>
            <a:t> </a:t>
          </a:r>
        </a:p>
      </cdr:txBody>
    </cdr:sp>
  </cdr:relSizeAnchor>
  <cdr:relSizeAnchor xmlns:cdr="http://schemas.openxmlformats.org/drawingml/2006/chartDrawing">
    <cdr:from>
      <cdr:x>0.7125</cdr:x>
      <cdr:y>0.45577</cdr:y>
    </cdr:from>
    <cdr:to>
      <cdr:x>0.94375</cdr:x>
      <cdr:y>0.67709</cdr:y>
    </cdr:to>
    <cdr:pic>
      <cdr:nvPicPr>
        <cdr:cNvPr id="7" name="chart">
          <a:extLst xmlns:a="http://schemas.openxmlformats.org/drawingml/2006/main">
            <a:ext uri="{FF2B5EF4-FFF2-40B4-BE49-F238E27FC236}">
              <a16:creationId xmlns:a16="http://schemas.microsoft.com/office/drawing/2014/main" id="{EDFD97BD-7B67-7778-4D53-C2B846C4828A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3257568" y="1308638"/>
          <a:ext cx="1057291" cy="635474"/>
        </a:xfrm>
        <a:prstGeom xmlns:a="http://schemas.openxmlformats.org/drawingml/2006/main" prst="rect">
          <a:avLst/>
        </a:prstGeom>
      </cdr:spPr>
    </cdr:pic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4D3B7-0DCA-2C7C-3F13-6EAD225AAB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F4A21F-5272-C9CD-8280-BF5DE14A3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67F52-4DA7-C232-ACD5-6F536F306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A3221-0FDB-A743-8332-5F7C010D86BD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9636C-8640-D63D-CE6F-A1A2734D1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9710F-ACA5-9EB9-C571-B81AFE2B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9D4-DE0F-1A4C-A4F2-732EA5C9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65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3F924-6E25-5221-BD1D-A82CF5B9B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E793C-AE3A-BE9B-0EF1-830BF5252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1FE18-FC8C-EFEB-7437-3EF84F91F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A3221-0FDB-A743-8332-5F7C010D86BD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8EB47-E1BC-9E50-416C-99E078E85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CC2F7-ED8E-A174-9822-61B3B0D4D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9D4-DE0F-1A4C-A4F2-732EA5C9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896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EE935-668A-A5A0-873F-8070E8902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18256-5F5A-69FF-F4C3-1E42600F1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3F397-5139-1AB4-BD82-D68EA6F0E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A3221-0FDB-A743-8332-5F7C010D86BD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2F606-E7AF-DB82-570B-15F705BB4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AD08F-E109-1652-6D16-B59CA7CDB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9D4-DE0F-1A4C-A4F2-732EA5C9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004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E86CF-372D-4D78-E71E-694B0BF72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3938C-7987-E23B-A3AA-69F6D1E15A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DFBAA9-72D7-6098-C875-2586711C64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86A69-A90B-E3B1-C822-651D36C1C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A3221-0FDB-A743-8332-5F7C010D86BD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9D9AE3-45DB-AE82-B90C-24A478F95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FFB5A-B73E-E9F1-2C01-5D499EDC7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9D4-DE0F-1A4C-A4F2-732EA5C9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890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BCA3B-6DEA-3B33-FB59-4606E0A5C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75916E-5CED-7216-0121-AAA686454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C59275-F5CF-2135-9FE2-F9B1E88554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88FA7D-5FA0-4587-F41D-9885E1367D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24F6BF-3125-A1BA-843D-2C2C93E1B8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ACAE3C-17B3-BE56-02B9-81535E969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A3221-0FDB-A743-8332-5F7C010D86BD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BFAD1-415A-4EAB-5CA6-AA2550727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974EB6-BD45-A8D0-4F80-4E11AC310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9D4-DE0F-1A4C-A4F2-732EA5C9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799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4180B-AE7B-B741-FB39-4DC94E07F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7E2DC3-2FFD-B4C4-0844-9E1EEF903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A3221-0FDB-A743-8332-5F7C010D86BD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5BEDC0-C68D-DD74-EFEA-C673BA61D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911AF-924F-B15B-2FBD-D3916B789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9D4-DE0F-1A4C-A4F2-732EA5C9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222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9BBDD2-A145-E63A-58C3-4D809429C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A3221-0FDB-A743-8332-5F7C010D86BD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E12096-2266-A6B9-4FB8-CB2543D39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F394DB-8528-D635-73D5-629A6B527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9D4-DE0F-1A4C-A4F2-732EA5C9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957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E729A-2BA3-3763-165E-5826FDC2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6FD15-625F-6FCA-B06A-2E12D6B84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DA4B8F-3363-6DB1-CD3E-4C43C4B6C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BEAB8B-405D-1954-9DE4-480E4E723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A3221-0FDB-A743-8332-5F7C010D86BD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E8BB5E-27BE-CC5F-C379-D6419E247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8A5A07-1225-B78A-F66C-2B4180180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9D4-DE0F-1A4C-A4F2-732EA5C9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191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C3EFF-A113-9F0A-26D8-042C2AA4B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94DE-11AB-1B42-0DB2-5C6A7DA755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3B245C-A6F0-944B-0C55-3FF065FA46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C084F2-1B32-1ADE-6B35-3B6A27ED8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A3221-0FDB-A743-8332-5F7C010D86BD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630D9-113A-379C-F70F-CE1BD5693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A5E4C5-54C6-7835-F41A-0A8F428E2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9D4-DE0F-1A4C-A4F2-732EA5C9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628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8869E-A0DC-4342-29B0-9D733C53D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A98E8E-5E7A-AA12-6A90-A157FC487B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48433-F7EE-E3FF-77FF-BA020190C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A3221-0FDB-A743-8332-5F7C010D86BD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7560A-48F4-E78C-5DEA-9A211CEF9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3EC04-BC11-89E1-DE1C-4ABB0932B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9D4-DE0F-1A4C-A4F2-732EA5C9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834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5F119C-CF1F-503F-3723-4B5BAAC503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5325FF-1D50-CA19-49A8-F0D7EC315A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109D1-75B9-7713-E7E1-0B1BECDBF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A3221-0FDB-A743-8332-5F7C010D86BD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89208-97D7-0470-5089-5AA469CDB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C646A-4A2E-C0CD-92B8-8BCDA163F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9D4-DE0F-1A4C-A4F2-732EA5C9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809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AB6257-28A5-A7A0-DF8A-861DD54C7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443D8-F887-DC02-542D-80ADDAA6B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99366-D3B5-D312-75CF-5A04224B2D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A3221-0FDB-A743-8332-5F7C010D86BD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C0D65-697E-DDD7-5E6B-398901C16E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E0108-BABC-9D49-6F92-C6ADE9CA24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A579D4-DE0F-1A4C-A4F2-732EA5C9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472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0000000-0008-0000-03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8479471"/>
              </p:ext>
            </p:extLst>
          </p:nvPr>
        </p:nvGraphicFramePr>
        <p:xfrm>
          <a:off x="2940313" y="2188636"/>
          <a:ext cx="5864597" cy="2480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 Box 4">
            <a:extLst>
              <a:ext uri="{FF2B5EF4-FFF2-40B4-BE49-F238E27FC236}">
                <a16:creationId xmlns:a16="http://schemas.microsoft.com/office/drawing/2014/main" id="{A3D5BCFC-5184-4303-A359-DB0CC24EA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7439" y="2715257"/>
            <a:ext cx="621201" cy="251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" tIns="50292" rIns="0" bIns="0" anchor="t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>
              <a:lnSpc>
                <a:spcPts val="1200"/>
              </a:lnSpc>
              <a:defRPr sz="1000"/>
            </a:pPr>
            <a:r>
              <a:rPr lang="en-AU" sz="1100" b="1" i="0" u="none" strike="noStrike" baseline="0" dirty="0">
                <a:solidFill>
                  <a:srgbClr val="0D3512">
                    <a:alpha val="14000"/>
                  </a:srgbClr>
                </a:solidFill>
                <a:latin typeface="Aptos Narrow"/>
              </a:rPr>
              <a:t>Very High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D0850AFD-8352-4363-B93A-A07233E122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0966" y="3176285"/>
            <a:ext cx="592857" cy="252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" tIns="50292" rIns="0" bIns="0" anchor="t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>
              <a:lnSpc>
                <a:spcPts val="1200"/>
              </a:lnSpc>
              <a:defRPr sz="1000"/>
            </a:pPr>
            <a:r>
              <a:rPr lang="en-AU" sz="1100" b="1" i="0" u="none" strike="noStrike" baseline="0" dirty="0">
                <a:solidFill>
                  <a:srgbClr val="0D3512">
                    <a:alpha val="31000"/>
                  </a:srgbClr>
                </a:solidFill>
                <a:latin typeface="Aptos Narrow"/>
              </a:rPr>
              <a:t>High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4CCC2447-F091-4972-A24C-59832F4013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9302" y="3572928"/>
            <a:ext cx="603328" cy="244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" tIns="50292" rIns="0" bIns="0" anchor="t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>
              <a:lnSpc>
                <a:spcPts val="1200"/>
              </a:lnSpc>
              <a:defRPr sz="1000"/>
            </a:pPr>
            <a:r>
              <a:rPr lang="en-AU" sz="1100" b="1" i="0" u="none" strike="noStrike" baseline="0" dirty="0">
                <a:solidFill>
                  <a:srgbClr val="0D3512">
                    <a:alpha val="63000"/>
                  </a:srgbClr>
                </a:solidFill>
                <a:latin typeface="Aptos Narrow"/>
              </a:rPr>
              <a:t>Moderate</a:t>
            </a:r>
          </a:p>
        </p:txBody>
      </p:sp>
    </p:spTree>
    <p:extLst>
      <p:ext uri="{BB962C8B-B14F-4D97-AF65-F5344CB8AC3E}">
        <p14:creationId xmlns:p14="http://schemas.microsoft.com/office/powerpoint/2010/main" val="624444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A9BC235-288F-4E0E-80B9-D499F3DAA8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4338497"/>
              </p:ext>
            </p:extLst>
          </p:nvPr>
        </p:nvGraphicFramePr>
        <p:xfrm>
          <a:off x="4037039" y="2084774"/>
          <a:ext cx="5398081" cy="27036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90977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680DEDC-3EDC-4915-B923-EBFC38547C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06826606"/>
              </p:ext>
            </p:extLst>
          </p:nvPr>
        </p:nvGraphicFramePr>
        <p:xfrm>
          <a:off x="3626674" y="2067224"/>
          <a:ext cx="4938651" cy="27235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64805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96BB830-631A-4159-A407-0D53D5442C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0011469"/>
              </p:ext>
            </p:extLst>
          </p:nvPr>
        </p:nvGraphicFramePr>
        <p:xfrm>
          <a:off x="3825857" y="2045781"/>
          <a:ext cx="4540286" cy="2766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92109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6EC90-6F96-E8BF-E53A-AD8C2E535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C4F5315-5B9D-D912-0F02-D6E0232AF813}"/>
              </a:ext>
            </a:extLst>
          </p:cNvPr>
          <p:cNvGraphicFramePr>
            <a:graphicFrameLocks/>
          </p:cNvGraphicFramePr>
          <p:nvPr/>
        </p:nvGraphicFramePr>
        <p:xfrm>
          <a:off x="3998936" y="2185415"/>
          <a:ext cx="4668813" cy="24871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07482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6096D14F-E485-4333-9C84-4A38996422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5029013"/>
              </p:ext>
            </p:extLst>
          </p:nvPr>
        </p:nvGraphicFramePr>
        <p:xfrm>
          <a:off x="3809982" y="1993362"/>
          <a:ext cx="4572036" cy="2871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6660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A1B8CBE-FE56-35EE-9239-13D3FBB4AC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640790"/>
              </p:ext>
            </p:extLst>
          </p:nvPr>
        </p:nvGraphicFramePr>
        <p:xfrm>
          <a:off x="901521" y="78257"/>
          <a:ext cx="10045878" cy="5522595"/>
        </p:xfrm>
        <a:graphic>
          <a:graphicData uri="http://schemas.openxmlformats.org/drawingml/2006/table">
            <a:tbl>
              <a:tblPr/>
              <a:tblGrid>
                <a:gridCol w="10045878">
                  <a:extLst>
                    <a:ext uri="{9D8B030D-6E8A-4147-A177-3AD203B41FA5}">
                      <a16:colId xmlns:a16="http://schemas.microsoft.com/office/drawing/2014/main" val="13245706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1800" b="0" i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endParaRPr lang="en-US" sz="1800" b="0" i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474358"/>
                  </a:ext>
                </a:extLst>
              </a:tr>
              <a:tr h="57134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i="0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63% 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 </a:t>
                      </a:r>
                      <a:r>
                        <a:rPr lang="en-US" sz="1800" b="1" i="0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customers 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have higher DTI (</a:t>
                      </a:r>
                      <a:r>
                        <a:rPr lang="en-US" sz="1800" b="1" i="0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 + Very High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while </a:t>
                      </a:r>
                      <a:r>
                        <a:rPr lang="en-US" sz="1800" b="1" i="0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13% have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i="0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Low DTI</a:t>
                      </a:r>
                      <a:r>
                        <a:rPr lang="en-US" sz="1800" b="0" i="0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800" b="0" i="0" kern="1200" dirty="0">
                        <a:solidFill>
                          <a:srgbClr val="FFC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1" i="0" kern="1200" dirty="0">
                        <a:solidFill>
                          <a:srgbClr val="FFC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i="0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44% 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 customers </a:t>
                      </a:r>
                      <a:r>
                        <a:rPr lang="en-US" sz="1800" b="1" i="0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buy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i="0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mid‑value 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homes ($223K–$411K)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while only </a:t>
                      </a:r>
                      <a:r>
                        <a:rPr lang="en-US" sz="1800" b="1" i="0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4%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purchase homes </a:t>
                      </a:r>
                      <a:r>
                        <a:rPr lang="en-US" sz="1800" b="1" i="0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above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i="0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$974K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i="0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80% 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 customers </a:t>
                      </a:r>
                      <a:r>
                        <a:rPr lang="en-US" sz="1800" b="1" i="0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are in 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</a:t>
                      </a:r>
                      <a:r>
                        <a:rPr lang="en-US" sz="1800" b="1" i="0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Low‑income segment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b="1" i="0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17%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 </a:t>
                      </a:r>
                      <a:r>
                        <a:rPr lang="en-US" sz="1800" b="1" i="0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income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and only </a:t>
                      </a:r>
                      <a:r>
                        <a:rPr lang="en-US" sz="1800" b="1" i="0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3%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i="0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combined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 </a:t>
                      </a:r>
                      <a:r>
                        <a:rPr lang="en-US" sz="1800" b="1" i="0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 or Very High income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i="0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31%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of customers have </a:t>
                      </a:r>
                      <a:r>
                        <a:rPr lang="en-US" sz="1800" b="1" i="0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LTV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b="1" i="0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30%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have </a:t>
                      </a:r>
                      <a:r>
                        <a:rPr lang="en-US" sz="1800" b="1" i="0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LTV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and </a:t>
                      </a:r>
                      <a:r>
                        <a:rPr lang="en-US" sz="1800" b="1" i="0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14%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i="0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have Low LTV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i="0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59%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of customers </a:t>
                      </a:r>
                      <a:r>
                        <a:rPr lang="en-US" sz="1800" b="1" i="0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live in Very Low 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minority areas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while </a:t>
                      </a:r>
                      <a:r>
                        <a:rPr lang="en-US" sz="1800" b="1" i="0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17%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i="0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live in Medium or High minority areas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combined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i="0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30%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i="0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 home purchases 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come from Area Code </a:t>
                      </a:r>
                      <a:r>
                        <a:rPr lang="en-US" sz="1800" b="1" i="0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followed by </a:t>
                      </a:r>
                      <a:r>
                        <a:rPr lang="en-US" sz="1800" b="1" i="0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12%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i="0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 Area Code 48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b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US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AU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543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6996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5086</TotalTime>
  <Words>256</Words>
  <Application>Microsoft Office PowerPoint</Application>
  <PresentationFormat>Widescreen</PresentationFormat>
  <Paragraphs>69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Aptos Narrow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kunal neon</dc:creator>
  <cp:lastModifiedBy>kunal neon</cp:lastModifiedBy>
  <cp:revision>8</cp:revision>
  <dcterms:created xsi:type="dcterms:W3CDTF">2026-02-02T23:51:54Z</dcterms:created>
  <dcterms:modified xsi:type="dcterms:W3CDTF">2026-02-11T09:09:13Z</dcterms:modified>
</cp:coreProperties>
</file>