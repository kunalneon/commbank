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63"/>
    <p:restoredTop sz="94769"/>
  </p:normalViewPr>
  <p:slideViewPr>
    <p:cSldViewPr snapToGrid="0">
      <p:cViewPr varScale="1">
        <p:scale>
          <a:sx n="92" d="100"/>
          <a:sy n="92" d="100"/>
        </p:scale>
        <p:origin x="12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ranbudhaair/Downloads/commBankUnfilteredData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pPr>
            <a:r>
              <a:rPr lang="en-AU" sz="1400" b="0" i="0" u="none" strike="noStrike" baseline="0"/>
              <a:t>Home Purchases Peak Among Ages 35–44</a:t>
            </a:r>
            <a:endParaRPr lang="en-US">
              <a:solidFill>
                <a:srgbClr val="FFC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C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24162872069844"/>
          <c:y val="0.14414257626340504"/>
          <c:w val="0.82925196850393701"/>
          <c:h val="0.721258019830854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Sheet2!$C$61</c:f>
              <c:strCache>
                <c:ptCount val="1"/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EBB629">
                  <a:alpha val="5201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95-7F41-9210-D9185A3B488E}"/>
              </c:ext>
            </c:extLst>
          </c:dPt>
          <c:dPt>
            <c:idx val="4"/>
            <c:invertIfNegative val="0"/>
            <c:bubble3D val="0"/>
            <c:spPr>
              <a:solidFill>
                <a:srgbClr val="EBB629">
                  <a:alpha val="50196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95-7F41-9210-D9185A3B488E}"/>
              </c:ext>
            </c:extLst>
          </c:dPt>
          <c:dPt>
            <c:idx val="5"/>
            <c:invertIfNegative val="0"/>
            <c:bubble3D val="0"/>
            <c:spPr>
              <a:solidFill>
                <a:srgbClr val="EBB629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95-7F41-9210-D9185A3B488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5395-7F41-9210-D9185A3B488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5395-7F41-9210-D9185A3B488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5395-7F41-9210-D9185A3B488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395-7F41-9210-D9185A3B488E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395-7F41-9210-D9185A3B488E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395-7F41-9210-D9185A3B488E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5395-7F41-9210-D9185A3B48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Sheet2!$B$62:$B$68</c:f>
              <c:numCache>
                <c:formatCode>General</c:formatCode>
                <c:ptCount val="7"/>
              </c:numCache>
            </c:numRef>
          </c:cat>
          <c:val>
            <c:numRef>
              <c:f>Sheet2!$C$62:$C$68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A-5395-7F41-9210-D9185A3B4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08770527"/>
        <c:axId val="1325678783"/>
      </c:barChart>
      <c:catAx>
        <c:axId val="1208770527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EBB629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solidFill>
                      <a:srgbClr val="EBB629"/>
                    </a:solidFill>
                  </a:rPr>
                  <a:t>Age</a:t>
                </a:r>
                <a:r>
                  <a:rPr lang="en-GB" baseline="0">
                    <a:solidFill>
                      <a:srgbClr val="EBB629"/>
                    </a:solidFill>
                  </a:rPr>
                  <a:t> Group</a:t>
                </a:r>
                <a:endParaRPr lang="en-GB">
                  <a:solidFill>
                    <a:srgbClr val="EBB629"/>
                  </a:solidFill>
                </a:endParaRPr>
              </a:p>
            </c:rich>
          </c:tx>
          <c:layout>
            <c:manualLayout>
              <c:xMode val="edge"/>
              <c:yMode val="edge"/>
              <c:x val="1.266917591344391E-3"/>
              <c:y val="7.9652622503714104E-2"/>
            </c:manualLayout>
          </c:layout>
          <c:overlay val="0"/>
          <c:spPr>
            <a:solidFill>
              <a:schemeClr val="bg1"/>
            </a:solidFill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EBB629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5678783"/>
        <c:crosses val="autoZero"/>
        <c:auto val="1"/>
        <c:lblAlgn val="ctr"/>
        <c:lblOffset val="100"/>
        <c:noMultiLvlLbl val="0"/>
      </c:catAx>
      <c:valAx>
        <c:axId val="132567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accent1">
                  <a:alpha val="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b" anchorCtr="1"/>
              <a:lstStyle/>
              <a:p>
                <a:pPr>
                  <a:defRPr sz="1000" b="0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solidFill>
                      <a:srgbClr val="FFC000"/>
                    </a:solidFill>
                  </a:rPr>
                  <a:t>Counts</a:t>
                </a:r>
              </a:p>
            </c:rich>
          </c:tx>
          <c:layout>
            <c:manualLayout>
              <c:xMode val="edge"/>
              <c:yMode val="edge"/>
              <c:x val="0.11171735567845642"/>
              <c:y val="0.93817782710874376"/>
            </c:manualLayout>
          </c:layout>
          <c:overlay val="0"/>
          <c:spPr>
            <a:solidFill>
              <a:schemeClr val="bg1"/>
            </a:solidFill>
            <a:ln>
              <a:noFill/>
            </a:ln>
            <a:effectLst/>
          </c:spPr>
          <c:txPr>
            <a:bodyPr rot="0" spcFirstLastPara="1" vertOverflow="ellipsis" vert="horz" wrap="square" anchor="b" anchorCtr="1"/>
            <a:lstStyle/>
            <a:p>
              <a:pPr>
                <a:defRPr sz="1000" b="0" i="0" u="none" strike="noStrike" kern="1200" baseline="0">
                  <a:solidFill>
                    <a:srgbClr val="FFC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chemeClr val="accent1"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770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D3B7-0DCA-2C7C-3F13-6EAD225AA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4A21F-5272-C9CD-8280-BF5DE14A3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7F52-4DA7-C232-ACD5-6F536F30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9636C-8640-D63D-CE6F-A1A2734D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9710F-ACA5-9EB9-C571-B81AFE2B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6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F924-6E25-5221-BD1D-A82CF5B9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E793C-AE3A-BE9B-0EF1-830BF525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FE18-FC8C-EFEB-7437-3EF84F91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EB47-E1BC-9E50-416C-99E078E8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C2F7-ED8E-A174-9822-61B3B0D4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9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E935-668A-A5A0-873F-8070E890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18256-5F5A-69FF-F4C3-1E42600F1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F397-5139-1AB4-BD82-D68EA6F0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F606-E7AF-DB82-570B-15F705BB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AD08F-E109-1652-6D16-B59CA7CD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86CF-372D-4D78-E71E-694B0BF7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938C-7987-E23B-A3AA-69F6D1E15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FBAA9-72D7-6098-C875-2586711C6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86A69-A90B-E3B1-C822-651D36C1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D9AE3-45DB-AE82-B90C-24A478F9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FB5A-B73E-E9F1-2C01-5D499EDC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9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CA3B-6DEA-3B33-FB59-4606E0A5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5916E-5CED-7216-0121-AAA686454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59275-F5CF-2135-9FE2-F9B1E8855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88FA7D-5FA0-4587-F41D-9885E1367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4F6BF-3125-A1BA-843D-2C2C93E1B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CAE3C-17B3-BE56-02B9-81535E96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BFAD1-415A-4EAB-5CA6-AA255072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74EB6-BD45-A8D0-4F80-4E11AC31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9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180B-AE7B-B741-FB39-4DC94E07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E2DC3-2FFD-B4C4-0844-9E1EEF90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BEDC0-C68D-DD74-EFEA-C673BA61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911AF-924F-B15B-2FBD-D3916B78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2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BBDD2-A145-E63A-58C3-4D809429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12096-2266-A6B9-4FB8-CB2543D3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394DB-8528-D635-73D5-629A6B52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5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729A-2BA3-3763-165E-5826FDC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FD15-625F-6FCA-B06A-2E12D6B84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A4B8F-3363-6DB1-CD3E-4C43C4B6C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EAB8B-405D-1954-9DE4-480E4E72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8BB5E-27BE-CC5F-C379-D6419E24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A5A07-1225-B78A-F66C-2B418018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9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3EFF-A113-9F0A-26D8-042C2AA4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94DE-11AB-1B42-0DB2-5C6A7DA75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245C-A6F0-944B-0C55-3FF065FA4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084F2-1B32-1ADE-6B35-3B6A27ED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30D9-113A-379C-F70F-CE1BD569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5E4C5-54C6-7835-F41A-0A8F428E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2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869E-A0DC-4342-29B0-9D733C53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98E8E-5E7A-AA12-6A90-A157FC487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8433-F7EE-E3FF-77FF-BA020190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7560A-48F4-E78C-5DEA-9A211CEF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3EC04-BC11-89E1-DE1C-4ABB0932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F119C-CF1F-503F-3723-4B5BAAC50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325FF-1D50-CA19-49A8-F0D7EC315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109D1-75B9-7713-E7E1-0B1BECDB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9208-97D7-0470-5089-5AA469CD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646A-4A2E-C0CD-92B8-8BCDA163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0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B6257-28A5-A7A0-DF8A-861DD54C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443D8-F887-DC02-542D-80ADDAA6B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99366-D3B5-D312-75CF-5A04224B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A3221-0FDB-A743-8332-5F7C010D86BD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0D65-697E-DDD7-5E6B-398901C16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0108-BABC-9D49-6F92-C6ADE9CA2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C864-DE78-FFDA-0CC2-8D1219ADF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357"/>
            <a:ext cx="9351818" cy="9804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77649-92F1-FD5A-D437-2F5474B5C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2765"/>
            <a:ext cx="9144000" cy="3712872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27D1170-C1B8-C54E-A6CA-63C32A469C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2113926"/>
              </p:ext>
            </p:extLst>
          </p:nvPr>
        </p:nvGraphicFramePr>
        <p:xfrm>
          <a:off x="1711037" y="2424545"/>
          <a:ext cx="8769926" cy="3206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7969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9511-C5FB-6A6D-1BFE-E566A1B2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4112B6-8A03-8912-AD00-72A238E1C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4914"/>
            <a:ext cx="7667171" cy="47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6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6729-7334-519D-7907-91C482A3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9A845-C96F-3EF5-6C22-38DD671A8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1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16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neon</dc:creator>
  <cp:lastModifiedBy>kunal neon</cp:lastModifiedBy>
  <cp:revision>2</cp:revision>
  <dcterms:created xsi:type="dcterms:W3CDTF">2026-02-02T23:51:54Z</dcterms:created>
  <dcterms:modified xsi:type="dcterms:W3CDTF">2026-02-03T07:46:53Z</dcterms:modified>
</cp:coreProperties>
</file>